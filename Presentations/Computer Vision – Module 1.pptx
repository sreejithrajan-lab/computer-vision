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76" r:id="rId3"/>
    <p:sldId id="265" r:id="rId4"/>
    <p:sldId id="277" r:id="rId5"/>
    <p:sldId id="278" r:id="rId6"/>
    <p:sldId id="280" r:id="rId7"/>
    <p:sldId id="281" r:id="rId8"/>
    <p:sldId id="282" r:id="rId9"/>
    <p:sldId id="28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7" dt="2026-01-28T12:28:51.8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custSel addSld modSld">
      <pc:chgData name="Sreejith Rajan" userId="ec11bca0e4bee75f" providerId="LiveId" clId="{7B4F392D-EAB3-4CE7-903E-F84869825F47}" dt="2026-01-28T12:29:00.098" v="454" actId="1076"/>
      <pc:docMkLst>
        <pc:docMk/>
      </pc:docMkLst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  <pc:spChg chg="add">
          <ac:chgData name="Sreejith Rajan" userId="ec11bca0e4bee75f" providerId="LiveId" clId="{7B4F392D-EAB3-4CE7-903E-F84869825F47}" dt="2026-01-28T11:04:54.942" v="284"/>
          <ac:spMkLst>
            <pc:docMk/>
            <pc:sldMk cId="577398395" sldId="281"/>
            <ac:spMk id="4" creationId="{925A3DCE-0182-9207-1986-B38CCB69B385}"/>
          </ac:spMkLst>
        </pc:spChg>
        <pc:spChg chg="add mod">
          <ac:chgData name="Sreejith Rajan" userId="ec11bca0e4bee75f" providerId="LiveId" clId="{7B4F392D-EAB3-4CE7-903E-F84869825F47}" dt="2026-01-28T11:05:01.448" v="287"/>
          <ac:spMkLst>
            <pc:docMk/>
            <pc:sldMk cId="577398395" sldId="281"/>
            <ac:spMk id="5" creationId="{5596E00B-A834-387E-10E9-DC929C741180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spChg chg="del mod">
          <ac:chgData name="Sreejith Rajan" userId="ec11bca0e4bee75f" providerId="LiveId" clId="{7B4F392D-EAB3-4CE7-903E-F84869825F47}" dt="2026-01-28T12:28:51.821" v="451" actId="931"/>
          <ac:spMkLst>
            <pc:docMk/>
            <pc:sldMk cId="3476075454" sldId="283"/>
            <ac:spMk id="3" creationId="{A3BC4B0E-B9C6-7627-9C5A-5D6AB5EAD52E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1/28/2026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1/28/2026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1/28/2026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1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	28-1-2026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Course Objectives</a:t>
            </a:r>
            <a:endParaRPr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To understand the fundamentals of image processing</a:t>
            </a:r>
            <a:endParaRPr dirty="0"/>
          </a:p>
          <a:p>
            <a:r>
              <a:rPr lang="en-IN" dirty="0"/>
              <a:t>To familiarise with image enhancement and image segmentation algorithms</a:t>
            </a:r>
            <a:endParaRPr dirty="0"/>
          </a:p>
          <a:p>
            <a:r>
              <a:rPr lang="en-IN" dirty="0"/>
              <a:t>To familiarise with computer vision concepts</a:t>
            </a:r>
          </a:p>
          <a:p>
            <a:r>
              <a:rPr lang="en-IN" dirty="0"/>
              <a:t>Comprehensive understanding of feature extraction and image matching techniques.</a:t>
            </a:r>
            <a:br>
              <a:rPr lang="en-IN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Pinhole Camera</a:t>
            </a:r>
            <a:endParaRPr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pinhole camera is a simple optical device that uses a tiny aperture to project an inverted image of an external scene onto a surface inside a light-tight box.</a:t>
            </a:r>
            <a:endParaRPr dirty="0"/>
          </a:p>
          <a:p>
            <a:r>
              <a:rPr lang="en-IN" dirty="0"/>
              <a:t>It works on the principle of rectilinear motion of light. </a:t>
            </a:r>
          </a:p>
          <a:p>
            <a:r>
              <a:rPr lang="en-IN" dirty="0"/>
              <a:t> Image will be real, inverted and diminished</a:t>
            </a:r>
          </a:p>
          <a:p>
            <a:r>
              <a:rPr lang="en-IN" dirty="0"/>
              <a:t>Role of Pinhole size on image?</a:t>
            </a:r>
          </a:p>
          <a:p>
            <a:pPr lvl="1"/>
            <a:r>
              <a:rPr lang="en-IN" dirty="0"/>
              <a:t>Small pinhole </a:t>
            </a:r>
          </a:p>
          <a:p>
            <a:pPr lvl="1"/>
            <a:r>
              <a:rPr lang="en-IN" dirty="0"/>
              <a:t>Large pinhole</a:t>
            </a:r>
          </a:p>
          <a:p>
            <a:endParaRPr lang="en-IN" dirty="0"/>
          </a:p>
          <a:p>
            <a:pPr marL="0" indent="0">
              <a:buNone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AE4E5B-2BD2-BAFC-722C-C950C9279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176" y="2515580"/>
            <a:ext cx="3580420" cy="358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Characteristics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F247C-BC93-52DB-77E7-71348FF77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lens required</a:t>
            </a:r>
          </a:p>
          <a:p>
            <a:r>
              <a:rPr lang="en-US" dirty="0"/>
              <a:t>Infinite depth of field</a:t>
            </a:r>
          </a:p>
          <a:p>
            <a:r>
              <a:rPr lang="en-US" dirty="0"/>
              <a:t>No focusing mechanism</a:t>
            </a:r>
          </a:p>
          <a:p>
            <a:r>
              <a:rPr lang="en-US" dirty="0"/>
              <a:t>Very low light efficiency</a:t>
            </a:r>
          </a:p>
          <a:p>
            <a:r>
              <a:rPr lang="en-US" dirty="0"/>
              <a:t>Simple construction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Advantages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055FB-CDB2-2266-F128-38786D87C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lens aberrations</a:t>
            </a:r>
          </a:p>
          <a:p>
            <a:r>
              <a:rPr lang="en-US" dirty="0"/>
              <a:t>Very large depth of field</a:t>
            </a:r>
          </a:p>
          <a:p>
            <a:r>
              <a:rPr lang="en-US" dirty="0"/>
              <a:t>Easy to understand and build</a:t>
            </a:r>
          </a:p>
          <a:p>
            <a:r>
              <a:rPr lang="en-US" dirty="0"/>
              <a:t>Used as a basic imaging model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Limitations of Pinhole Camera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F0DF6-B2EF-AC64-1460-8D5007FF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412776"/>
            <a:ext cx="9144000" cy="4267200"/>
          </a:xfrm>
        </p:spPr>
        <p:txBody>
          <a:bodyPr/>
          <a:lstStyle/>
          <a:p>
            <a:r>
              <a:rPr lang="en-US" dirty="0"/>
              <a:t>Low brightness</a:t>
            </a:r>
          </a:p>
          <a:p>
            <a:r>
              <a:rPr lang="en-US" dirty="0"/>
              <a:t>Poor resolution compared to a lens-based camera</a:t>
            </a:r>
          </a:p>
          <a:p>
            <a:r>
              <a:rPr lang="en-US" dirty="0"/>
              <a:t>Not suitable for low light conditions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Fundamentals of Gaussian Optics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C38E5-E1BA-BDBA-3A7D-013F812C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Gaussian optics is based on the principles of ray optics.</a:t>
            </a:r>
          </a:p>
          <a:p>
            <a:r>
              <a:rPr lang="en-US" dirty="0"/>
              <a:t>A point source of light emits light rays in all directions.</a:t>
            </a:r>
          </a:p>
          <a:p>
            <a:r>
              <a:rPr lang="en-US" dirty="0"/>
              <a:t>Light rays propagate in straight lines in a homogeneous medium.</a:t>
            </a:r>
          </a:p>
          <a:p>
            <a:r>
              <a:rPr lang="en-US" dirty="0"/>
              <a:t>Light rays from a distant source are considered parallel.</a:t>
            </a:r>
          </a:p>
          <a:p>
            <a:r>
              <a:rPr lang="en-US" dirty="0"/>
              <a:t>Spherical lenses and spherical mirrors obey Gaussian optics when only paraxial rays are considered.</a:t>
            </a:r>
          </a:p>
          <a:p>
            <a:r>
              <a:rPr lang="en-US" dirty="0"/>
              <a:t>For rays close to the principal axis, the small-angle approximation is valid, leading to simple image-formation equations.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Paraxial 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74F7A-C7FB-FC2F-19AE-479543AA5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paraxial approximation assumes that light rays make small angles with the principal (optical) axis.</a:t>
            </a:r>
          </a:p>
          <a:p>
            <a:r>
              <a:rPr lang="en-US" dirty="0"/>
              <a:t>Under this condition:</a:t>
            </a:r>
          </a:p>
          <a:p>
            <a:pPr lvl="1"/>
            <a:r>
              <a:rPr lang="en-US" dirty="0"/>
              <a:t>sin⁡𝜃≈tan⁡𝜃≈𝜃(𝜃 in radians)</a:t>
            </a:r>
          </a:p>
          <a:p>
            <a:r>
              <a:rPr lang="en-US" dirty="0"/>
              <a:t>This approximation simplifies the geometry of light propagation and leads to linear image-formation equations.</a:t>
            </a:r>
          </a:p>
          <a:p>
            <a:r>
              <a:rPr lang="en-US" dirty="0"/>
              <a:t> The paraxial approximation is the foundation of Gaussian optics and is valid only for rays close to the optical axis.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Formation in Spherical Mirrors/Lenses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6F1145-C370-6EFA-C993-F57E3245DD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592" y="1600200"/>
            <a:ext cx="6318448" cy="4738836"/>
          </a:xfrm>
        </p:spPr>
      </p:pic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181</TotalTime>
  <Words>345</Words>
  <Application>Microsoft Office PowerPoint</Application>
  <PresentationFormat>Widescreen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Candara</vt:lpstr>
      <vt:lpstr>Consolas</vt:lpstr>
      <vt:lpstr>Tech Computer 16x9</vt:lpstr>
      <vt:lpstr>Computer Vision – Module 1</vt:lpstr>
      <vt:lpstr>Course Objectives</vt:lpstr>
      <vt:lpstr>Pinhole Camera</vt:lpstr>
      <vt:lpstr>Characteristics of Pinhole Camera </vt:lpstr>
      <vt:lpstr>Advantages of Pinhole Camera </vt:lpstr>
      <vt:lpstr>Limitations of Pinhole Camera </vt:lpstr>
      <vt:lpstr>Fundamentals of Gaussian Optics</vt:lpstr>
      <vt:lpstr>Paraxial Approximation</vt:lpstr>
      <vt:lpstr>Image Formation in Spherical Mirrors/Lenses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1</cp:revision>
  <dcterms:created xsi:type="dcterms:W3CDTF">2026-01-28T09:27:21Z</dcterms:created>
  <dcterms:modified xsi:type="dcterms:W3CDTF">2026-01-28T12:29:00Z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