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4"/>
  </p:notesMasterIdLst>
  <p:handoutMasterIdLst>
    <p:handoutMasterId r:id="rId75"/>
  </p:handoutMasterIdLst>
  <p:sldIdLst>
    <p:sldId id="256" r:id="rId2"/>
    <p:sldId id="276" r:id="rId3"/>
    <p:sldId id="265" r:id="rId4"/>
    <p:sldId id="277" r:id="rId5"/>
    <p:sldId id="278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91" r:id="rId14"/>
    <p:sldId id="287" r:id="rId15"/>
    <p:sldId id="288" r:id="rId16"/>
    <p:sldId id="289" r:id="rId17"/>
    <p:sldId id="292" r:id="rId18"/>
    <p:sldId id="347" r:id="rId19"/>
    <p:sldId id="290" r:id="rId20"/>
    <p:sldId id="293" r:id="rId21"/>
    <p:sldId id="294" r:id="rId22"/>
    <p:sldId id="295" r:id="rId23"/>
    <p:sldId id="296" r:id="rId24"/>
    <p:sldId id="297" r:id="rId25"/>
    <p:sldId id="298" r:id="rId26"/>
    <p:sldId id="348" r:id="rId27"/>
    <p:sldId id="349" r:id="rId28"/>
    <p:sldId id="350" r:id="rId29"/>
    <p:sldId id="302" r:id="rId30"/>
    <p:sldId id="303" r:id="rId31"/>
    <p:sldId id="304" r:id="rId32"/>
    <p:sldId id="305" r:id="rId33"/>
    <p:sldId id="306" r:id="rId34"/>
    <p:sldId id="307" r:id="rId35"/>
    <p:sldId id="308" r:id="rId36"/>
    <p:sldId id="309" r:id="rId37"/>
    <p:sldId id="310" r:id="rId38"/>
    <p:sldId id="311" r:id="rId39"/>
    <p:sldId id="313" r:id="rId40"/>
    <p:sldId id="312" r:id="rId41"/>
    <p:sldId id="314" r:id="rId42"/>
    <p:sldId id="315" r:id="rId43"/>
    <p:sldId id="316" r:id="rId44"/>
    <p:sldId id="317" r:id="rId45"/>
    <p:sldId id="319" r:id="rId46"/>
    <p:sldId id="318" r:id="rId47"/>
    <p:sldId id="320" r:id="rId48"/>
    <p:sldId id="321" r:id="rId49"/>
    <p:sldId id="322" r:id="rId50"/>
    <p:sldId id="331" r:id="rId51"/>
    <p:sldId id="323" r:id="rId52"/>
    <p:sldId id="324" r:id="rId53"/>
    <p:sldId id="325" r:id="rId54"/>
    <p:sldId id="326" r:id="rId55"/>
    <p:sldId id="327" r:id="rId56"/>
    <p:sldId id="328" r:id="rId57"/>
    <p:sldId id="329" r:id="rId58"/>
    <p:sldId id="330" r:id="rId59"/>
    <p:sldId id="332" r:id="rId60"/>
    <p:sldId id="333" r:id="rId61"/>
    <p:sldId id="334" r:id="rId62"/>
    <p:sldId id="335" r:id="rId63"/>
    <p:sldId id="336" r:id="rId64"/>
    <p:sldId id="337" r:id="rId65"/>
    <p:sldId id="338" r:id="rId66"/>
    <p:sldId id="339" r:id="rId67"/>
    <p:sldId id="340" r:id="rId68"/>
    <p:sldId id="341" r:id="rId69"/>
    <p:sldId id="342" r:id="rId70"/>
    <p:sldId id="345" r:id="rId71"/>
    <p:sldId id="346" r:id="rId72"/>
    <p:sldId id="34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612B0D-43A0-494E-A4D4-1828271DDC57}" v="180" dt="2026-02-04T08:29:24.9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95" d="100"/>
          <a:sy n="95" d="100"/>
        </p:scale>
        <p:origin x="163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8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2-04T13:28:34.480" v="2087" actId="14100"/>
      <pc:docMkLst>
        <pc:docMk/>
      </pc:docMkLst>
      <pc:sldChg chg="modSp mod">
        <pc:chgData name="Sreejith Rajan" userId="ec11bca0e4bee75f" providerId="LiveId" clId="{7B4F392D-EAB3-4CE7-903E-F84869825F47}" dt="2026-02-04T07:59:58.753" v="1725" actId="6549"/>
        <pc:sldMkLst>
          <pc:docMk/>
          <pc:sldMk cId="242453831" sldId="256"/>
        </pc:sldMkLst>
        <pc:spChg chg="mod">
          <ac:chgData name="Sreejith Rajan" userId="ec11bca0e4bee75f" providerId="LiveId" clId="{7B4F392D-EAB3-4CE7-903E-F84869825F47}" dt="2026-02-04T07:59:58.753" v="1725" actId="6549"/>
          <ac:spMkLst>
            <pc:docMk/>
            <pc:sldMk cId="242453831" sldId="256"/>
            <ac:spMk id="3" creationId="{00000000-0000-0000-0000-000000000000}"/>
          </ac:spMkLst>
        </pc:spChg>
      </pc:sldChg>
      <pc:sldChg chg="modSp mod">
        <pc:chgData name="Sreejith Rajan" userId="ec11bca0e4bee75f" providerId="LiveId" clId="{7B4F392D-EAB3-4CE7-903E-F84869825F47}" dt="2026-01-28T11:14:32.433" v="381" actId="113"/>
        <pc:sldMkLst>
          <pc:docMk/>
          <pc:sldMk cId="2949394097" sldId="277"/>
        </pc:sldMkLst>
        <pc:spChg chg="mod">
          <ac:chgData name="Sreejith Rajan" userId="ec11bca0e4bee75f" providerId="LiveId" clId="{7B4F392D-EAB3-4CE7-903E-F84869825F47}" dt="2026-01-28T11:14:32.433" v="381" actId="113"/>
          <ac:spMkLst>
            <pc:docMk/>
            <pc:sldMk cId="2949394097" sldId="277"/>
            <ac:spMk id="3" creationId="{969F247C-BC93-52DB-77E7-71348FF77D03}"/>
          </ac:spMkLst>
        </pc:spChg>
      </pc:sldChg>
      <pc:sldChg chg="addSp delSp modSp new mod">
        <pc:chgData name="Sreejith Rajan" userId="ec11bca0e4bee75f" providerId="LiveId" clId="{7B4F392D-EAB3-4CE7-903E-F84869825F47}" dt="2026-01-28T11:07:09.576" v="299" actId="20577"/>
        <pc:sldMkLst>
          <pc:docMk/>
          <pc:sldMk cId="577398395" sldId="281"/>
        </pc:sldMkLst>
        <pc:spChg chg="mod">
          <ac:chgData name="Sreejith Rajan" userId="ec11bca0e4bee75f" providerId="LiveId" clId="{7B4F392D-EAB3-4CE7-903E-F84869825F47}" dt="2026-01-28T11:00:10.388" v="32" actId="20577"/>
          <ac:spMkLst>
            <pc:docMk/>
            <pc:sldMk cId="577398395" sldId="281"/>
            <ac:spMk id="2" creationId="{16B3C73F-CDA9-DD6C-267F-97D502340C6E}"/>
          </ac:spMkLst>
        </pc:spChg>
        <pc:spChg chg="add del mod">
          <ac:chgData name="Sreejith Rajan" userId="ec11bca0e4bee75f" providerId="LiveId" clId="{7B4F392D-EAB3-4CE7-903E-F84869825F47}" dt="2026-01-28T11:07:09.576" v="299" actId="20577"/>
          <ac:spMkLst>
            <pc:docMk/>
            <pc:sldMk cId="577398395" sldId="281"/>
            <ac:spMk id="3" creationId="{91DC38E5-E1BA-BDBA-3A7D-013F812C149C}"/>
          </ac:spMkLst>
        </pc:spChg>
      </pc:sldChg>
      <pc:sldChg chg="modSp add mod">
        <pc:chgData name="Sreejith Rajan" userId="ec11bca0e4bee75f" providerId="LiveId" clId="{7B4F392D-EAB3-4CE7-903E-F84869825F47}" dt="2026-01-28T11:12:20.889" v="380" actId="20577"/>
        <pc:sldMkLst>
          <pc:docMk/>
          <pc:sldMk cId="496715533" sldId="282"/>
        </pc:sldMkLst>
        <pc:spChg chg="mod">
          <ac:chgData name="Sreejith Rajan" userId="ec11bca0e4bee75f" providerId="LiveId" clId="{7B4F392D-EAB3-4CE7-903E-F84869825F47}" dt="2026-01-28T11:10:43.259" v="338" actId="20577"/>
          <ac:spMkLst>
            <pc:docMk/>
            <pc:sldMk cId="496715533" sldId="282"/>
            <ac:spMk id="2" creationId="{79F203E6-B395-60BD-8553-7869DA7569D3}"/>
          </ac:spMkLst>
        </pc:spChg>
        <pc:spChg chg="mod">
          <ac:chgData name="Sreejith Rajan" userId="ec11bca0e4bee75f" providerId="LiveId" clId="{7B4F392D-EAB3-4CE7-903E-F84869825F47}" dt="2026-01-28T11:12:20.889" v="380" actId="20577"/>
          <ac:spMkLst>
            <pc:docMk/>
            <pc:sldMk cId="496715533" sldId="282"/>
            <ac:spMk id="3" creationId="{31E74F7A-C7FB-FC2F-19AE-479543AA5FF5}"/>
          </ac:spMkLst>
        </pc:spChg>
      </pc:sldChg>
      <pc:sldChg chg="addSp delSp modSp new mod">
        <pc:chgData name="Sreejith Rajan" userId="ec11bca0e4bee75f" providerId="LiveId" clId="{7B4F392D-EAB3-4CE7-903E-F84869825F47}" dt="2026-01-28T12:29:00.098" v="454" actId="1076"/>
        <pc:sldMkLst>
          <pc:docMk/>
          <pc:sldMk cId="3476075454" sldId="283"/>
        </pc:sldMkLst>
        <pc:spChg chg="mod">
          <ac:chgData name="Sreejith Rajan" userId="ec11bca0e4bee75f" providerId="LiveId" clId="{7B4F392D-EAB3-4CE7-903E-F84869825F47}" dt="2026-01-28T12:28:41.328" v="449" actId="20577"/>
          <ac:spMkLst>
            <pc:docMk/>
            <pc:sldMk cId="3476075454" sldId="283"/>
            <ac:spMk id="2" creationId="{A07D470A-F35B-E369-AE37-3E931EF4B4DC}"/>
          </ac:spMkLst>
        </pc:spChg>
        <pc:picChg chg="add mod">
          <ac:chgData name="Sreejith Rajan" userId="ec11bca0e4bee75f" providerId="LiveId" clId="{7B4F392D-EAB3-4CE7-903E-F84869825F47}" dt="2026-01-28T12:29:00.098" v="454" actId="1076"/>
          <ac:picMkLst>
            <pc:docMk/>
            <pc:sldMk cId="3476075454" sldId="283"/>
            <ac:picMk id="5" creationId="{F66F1145-C370-6EFA-C993-F57E3245DDB2}"/>
          </ac:picMkLst>
        </pc:picChg>
      </pc:sldChg>
      <pc:sldChg chg="modSp new mod">
        <pc:chgData name="Sreejith Rajan" userId="ec11bca0e4bee75f" providerId="LiveId" clId="{7B4F392D-EAB3-4CE7-903E-F84869825F47}" dt="2026-01-29T08:26:13.028" v="673" actId="20577"/>
        <pc:sldMkLst>
          <pc:docMk/>
          <pc:sldMk cId="1078901978" sldId="284"/>
        </pc:sldMkLst>
        <pc:spChg chg="mod">
          <ac:chgData name="Sreejith Rajan" userId="ec11bca0e4bee75f" providerId="LiveId" clId="{7B4F392D-EAB3-4CE7-903E-F84869825F47}" dt="2026-01-29T08:22:49.645" v="507" actId="20577"/>
          <ac:spMkLst>
            <pc:docMk/>
            <pc:sldMk cId="1078901978" sldId="284"/>
            <ac:spMk id="2" creationId="{DB86669E-BD96-D32E-B9BA-7F8E7841B0C9}"/>
          </ac:spMkLst>
        </pc:spChg>
        <pc:spChg chg="mod">
          <ac:chgData name="Sreejith Rajan" userId="ec11bca0e4bee75f" providerId="LiveId" clId="{7B4F392D-EAB3-4CE7-903E-F84869825F47}" dt="2026-01-29T08:26:13.028" v="673" actId="20577"/>
          <ac:spMkLst>
            <pc:docMk/>
            <pc:sldMk cId="1078901978" sldId="284"/>
            <ac:spMk id="3" creationId="{694A62D9-96EA-6D70-E1BD-2206E6FA391A}"/>
          </ac:spMkLst>
        </pc:spChg>
      </pc:sldChg>
      <pc:sldChg chg="addSp delSp modSp new mod">
        <pc:chgData name="Sreejith Rajan" userId="ec11bca0e4bee75f" providerId="LiveId" clId="{7B4F392D-EAB3-4CE7-903E-F84869825F47}" dt="2026-01-29T08:31:47.847" v="819" actId="20577"/>
        <pc:sldMkLst>
          <pc:docMk/>
          <pc:sldMk cId="4118352869" sldId="285"/>
        </pc:sldMkLst>
        <pc:spChg chg="mod">
          <ac:chgData name="Sreejith Rajan" userId="ec11bca0e4bee75f" providerId="LiveId" clId="{7B4F392D-EAB3-4CE7-903E-F84869825F47}" dt="2026-01-29T08:26:29.235" v="688" actId="20577"/>
          <ac:spMkLst>
            <pc:docMk/>
            <pc:sldMk cId="4118352869" sldId="285"/>
            <ac:spMk id="2" creationId="{57EE5E69-DBB8-9A84-901B-F8902586ED84}"/>
          </ac:spMkLst>
        </pc:spChg>
        <pc:spChg chg="add del mod">
          <ac:chgData name="Sreejith Rajan" userId="ec11bca0e4bee75f" providerId="LiveId" clId="{7B4F392D-EAB3-4CE7-903E-F84869825F47}" dt="2026-01-29T08:31:47.847" v="819" actId="20577"/>
          <ac:spMkLst>
            <pc:docMk/>
            <pc:sldMk cId="4118352869" sldId="285"/>
            <ac:spMk id="3" creationId="{5207A0A3-2CAD-9B82-BB0A-D31121435AF1}"/>
          </ac:spMkLst>
        </pc:spChg>
        <pc:picChg chg="add mod">
          <ac:chgData name="Sreejith Rajan" userId="ec11bca0e4bee75f" providerId="LiveId" clId="{7B4F392D-EAB3-4CE7-903E-F84869825F47}" dt="2026-01-29T08:29:21.543" v="718" actId="1076"/>
          <ac:picMkLst>
            <pc:docMk/>
            <pc:sldMk cId="4118352869" sldId="285"/>
            <ac:picMk id="6" creationId="{FF939A5D-87AE-E08F-A0EB-2A792D733730}"/>
          </ac:picMkLst>
        </pc:picChg>
        <pc:picChg chg="add mod modCrop">
          <ac:chgData name="Sreejith Rajan" userId="ec11bca0e4bee75f" providerId="LiveId" clId="{7B4F392D-EAB3-4CE7-903E-F84869825F47}" dt="2026-01-29T08:30:23.703" v="726" actId="14100"/>
          <ac:picMkLst>
            <pc:docMk/>
            <pc:sldMk cId="4118352869" sldId="285"/>
            <ac:picMk id="8" creationId="{EEEEDC4D-FE28-2CFA-F1F5-328088FA27CA}"/>
          </ac:picMkLst>
        </pc:picChg>
      </pc:sldChg>
      <pc:sldChg chg="addSp delSp modSp new mod">
        <pc:chgData name="Sreejith Rajan" userId="ec11bca0e4bee75f" providerId="LiveId" clId="{7B4F392D-EAB3-4CE7-903E-F84869825F47}" dt="2026-01-29T09:28:57.892" v="850" actId="1076"/>
        <pc:sldMkLst>
          <pc:docMk/>
          <pc:sldMk cId="8252786" sldId="286"/>
        </pc:sldMkLst>
        <pc:spChg chg="mod">
          <ac:chgData name="Sreejith Rajan" userId="ec11bca0e4bee75f" providerId="LiveId" clId="{7B4F392D-EAB3-4CE7-903E-F84869825F47}" dt="2026-01-29T09:25:58.469" v="833" actId="20577"/>
          <ac:spMkLst>
            <pc:docMk/>
            <pc:sldMk cId="8252786" sldId="286"/>
            <ac:spMk id="2" creationId="{E1C181D6-A397-FF96-77EE-DF392A3CD488}"/>
          </ac:spMkLst>
        </pc:spChg>
        <pc:spChg chg="mod">
          <ac:chgData name="Sreejith Rajan" userId="ec11bca0e4bee75f" providerId="LiveId" clId="{7B4F392D-EAB3-4CE7-903E-F84869825F47}" dt="2026-01-29T09:26:43.747" v="841" actId="20577"/>
          <ac:spMkLst>
            <pc:docMk/>
            <pc:sldMk cId="8252786" sldId="286"/>
            <ac:spMk id="3" creationId="{BCE21B45-62C6-AF35-6F8F-4D1A75537E7E}"/>
          </ac:spMkLst>
        </pc:spChg>
        <pc:picChg chg="add mod modCrop">
          <ac:chgData name="Sreejith Rajan" userId="ec11bca0e4bee75f" providerId="LiveId" clId="{7B4F392D-EAB3-4CE7-903E-F84869825F47}" dt="2026-01-29T09:28:57.892" v="850" actId="1076"/>
          <ac:picMkLst>
            <pc:docMk/>
            <pc:sldMk cId="8252786" sldId="286"/>
            <ac:picMk id="5" creationId="{04FE6E30-ACFB-29A7-1C9E-5F230EC40A9F}"/>
          </ac:picMkLst>
        </pc:picChg>
      </pc:sldChg>
      <pc:sldChg chg="modSp new mod">
        <pc:chgData name="Sreejith Rajan" userId="ec11bca0e4bee75f" providerId="LiveId" clId="{7B4F392D-EAB3-4CE7-903E-F84869825F47}" dt="2026-01-29T09:32:16.136" v="963" actId="20577"/>
        <pc:sldMkLst>
          <pc:docMk/>
          <pc:sldMk cId="2061746392" sldId="287"/>
        </pc:sldMkLst>
        <pc:spChg chg="mod">
          <ac:chgData name="Sreejith Rajan" userId="ec11bca0e4bee75f" providerId="LiveId" clId="{7B4F392D-EAB3-4CE7-903E-F84869825F47}" dt="2026-01-29T09:29:12.335" v="867" actId="20577"/>
          <ac:spMkLst>
            <pc:docMk/>
            <pc:sldMk cId="2061746392" sldId="287"/>
            <ac:spMk id="2" creationId="{3FD7936A-0E49-A77C-2A51-375E04F88356}"/>
          </ac:spMkLst>
        </pc:spChg>
        <pc:spChg chg="mod">
          <ac:chgData name="Sreejith Rajan" userId="ec11bca0e4bee75f" providerId="LiveId" clId="{7B4F392D-EAB3-4CE7-903E-F84869825F47}" dt="2026-01-29T09:32:16.136" v="963" actId="20577"/>
          <ac:spMkLst>
            <pc:docMk/>
            <pc:sldMk cId="2061746392" sldId="287"/>
            <ac:spMk id="3" creationId="{D43D2F27-11CE-5CFC-B33B-5885F64A7D3A}"/>
          </ac:spMkLst>
        </pc:spChg>
      </pc:sldChg>
      <pc:sldChg chg="addSp modSp new mod">
        <pc:chgData name="Sreejith Rajan" userId="ec11bca0e4bee75f" providerId="LiveId" clId="{7B4F392D-EAB3-4CE7-903E-F84869825F47}" dt="2026-01-29T09:34:54.589" v="993" actId="1076"/>
        <pc:sldMkLst>
          <pc:docMk/>
          <pc:sldMk cId="3650375048" sldId="288"/>
        </pc:sldMkLst>
        <pc:spChg chg="mod">
          <ac:chgData name="Sreejith Rajan" userId="ec11bca0e4bee75f" providerId="LiveId" clId="{7B4F392D-EAB3-4CE7-903E-F84869825F47}" dt="2026-01-29T09:32:57.991" v="975" actId="20577"/>
          <ac:spMkLst>
            <pc:docMk/>
            <pc:sldMk cId="3650375048" sldId="288"/>
            <ac:spMk id="2" creationId="{BD28CB1F-A559-A303-4744-775851E22599}"/>
          </ac:spMkLst>
        </pc:spChg>
        <pc:spChg chg="mod">
          <ac:chgData name="Sreejith Rajan" userId="ec11bca0e4bee75f" providerId="LiveId" clId="{7B4F392D-EAB3-4CE7-903E-F84869825F47}" dt="2026-01-29T09:33:38.347" v="988" actId="20577"/>
          <ac:spMkLst>
            <pc:docMk/>
            <pc:sldMk cId="3650375048" sldId="288"/>
            <ac:spMk id="3" creationId="{F018D86A-87BE-3295-49A6-6F01471E0EF5}"/>
          </ac:spMkLst>
        </pc:spChg>
        <pc:picChg chg="add mod modCrop">
          <ac:chgData name="Sreejith Rajan" userId="ec11bca0e4bee75f" providerId="LiveId" clId="{7B4F392D-EAB3-4CE7-903E-F84869825F47}" dt="2026-01-29T09:34:54.589" v="993" actId="1076"/>
          <ac:picMkLst>
            <pc:docMk/>
            <pc:sldMk cId="3650375048" sldId="288"/>
            <ac:picMk id="5" creationId="{ED57B221-1DC5-044B-3A58-35E842DA1039}"/>
          </ac:picMkLst>
        </pc:picChg>
      </pc:sldChg>
      <pc:sldChg chg="addSp modSp new mod">
        <pc:chgData name="Sreejith Rajan" userId="ec11bca0e4bee75f" providerId="LiveId" clId="{7B4F392D-EAB3-4CE7-903E-F84869825F47}" dt="2026-01-29T09:36:48.392" v="1016" actId="1076"/>
        <pc:sldMkLst>
          <pc:docMk/>
          <pc:sldMk cId="3970158279" sldId="289"/>
        </pc:sldMkLst>
        <pc:spChg chg="mod">
          <ac:chgData name="Sreejith Rajan" userId="ec11bca0e4bee75f" providerId="LiveId" clId="{7B4F392D-EAB3-4CE7-903E-F84869825F47}" dt="2026-01-29T09:35:16.838" v="1006" actId="20577"/>
          <ac:spMkLst>
            <pc:docMk/>
            <pc:sldMk cId="3970158279" sldId="289"/>
            <ac:spMk id="2" creationId="{752AED4F-3E39-26B9-1F38-43039E149EFE}"/>
          </ac:spMkLst>
        </pc:spChg>
        <pc:spChg chg="mod">
          <ac:chgData name="Sreejith Rajan" userId="ec11bca0e4bee75f" providerId="LiveId" clId="{7B4F392D-EAB3-4CE7-903E-F84869825F47}" dt="2026-01-29T09:36:12.173" v="1011" actId="20577"/>
          <ac:spMkLst>
            <pc:docMk/>
            <pc:sldMk cId="3970158279" sldId="289"/>
            <ac:spMk id="3" creationId="{3267779D-E370-25AB-0F5B-2C280D780C6C}"/>
          </ac:spMkLst>
        </pc:spChg>
        <pc:picChg chg="add mod modCrop">
          <ac:chgData name="Sreejith Rajan" userId="ec11bca0e4bee75f" providerId="LiveId" clId="{7B4F392D-EAB3-4CE7-903E-F84869825F47}" dt="2026-01-29T09:36:48.392" v="1016" actId="1076"/>
          <ac:picMkLst>
            <pc:docMk/>
            <pc:sldMk cId="3970158279" sldId="289"/>
            <ac:picMk id="5" creationId="{8D7D7D97-C763-C1C7-0F38-192171BC4804}"/>
          </ac:picMkLst>
        </pc:picChg>
      </pc:sldChg>
      <pc:sldChg chg="addSp delSp modSp new mod">
        <pc:chgData name="Sreejith Rajan" userId="ec11bca0e4bee75f" providerId="LiveId" clId="{7B4F392D-EAB3-4CE7-903E-F84869825F47}" dt="2026-01-29T09:37:56.140" v="1038" actId="1076"/>
        <pc:sldMkLst>
          <pc:docMk/>
          <pc:sldMk cId="359768088" sldId="290"/>
        </pc:sldMkLst>
        <pc:spChg chg="mod">
          <ac:chgData name="Sreejith Rajan" userId="ec11bca0e4bee75f" providerId="LiveId" clId="{7B4F392D-EAB3-4CE7-903E-F84869825F47}" dt="2026-01-29T09:37:18.044" v="1031" actId="20577"/>
          <ac:spMkLst>
            <pc:docMk/>
            <pc:sldMk cId="359768088" sldId="290"/>
            <ac:spMk id="2" creationId="{3AA3F0BE-C8FB-20E5-8EE9-139CD235B75A}"/>
          </ac:spMkLst>
        </pc:spChg>
        <pc:graphicFrameChg chg="add mod modGraphic">
          <ac:chgData name="Sreejith Rajan" userId="ec11bca0e4bee75f" providerId="LiveId" clId="{7B4F392D-EAB3-4CE7-903E-F84869825F47}" dt="2026-01-29T09:37:56.140" v="1038" actId="1076"/>
          <ac:graphicFrameMkLst>
            <pc:docMk/>
            <pc:sldMk cId="359768088" sldId="290"/>
            <ac:graphicFrameMk id="4" creationId="{B32C0619-FD52-E358-B779-3AC6682B32DA}"/>
          </ac:graphicFrameMkLst>
        </pc:graphicFrameChg>
      </pc:sldChg>
      <pc:sldChg chg="modSp new mod">
        <pc:chgData name="Sreejith Rajan" userId="ec11bca0e4bee75f" providerId="LiveId" clId="{7B4F392D-EAB3-4CE7-903E-F84869825F47}" dt="2026-01-29T09:47:40.816" v="1347" actId="20577"/>
        <pc:sldMkLst>
          <pc:docMk/>
          <pc:sldMk cId="3485488711" sldId="291"/>
        </pc:sldMkLst>
        <pc:spChg chg="mod">
          <ac:chgData name="Sreejith Rajan" userId="ec11bca0e4bee75f" providerId="LiveId" clId="{7B4F392D-EAB3-4CE7-903E-F84869825F47}" dt="2026-01-29T09:39:35.521" v="1055" actId="20577"/>
          <ac:spMkLst>
            <pc:docMk/>
            <pc:sldMk cId="3485488711" sldId="291"/>
            <ac:spMk id="2" creationId="{422CC8AF-72C7-78E6-5DDE-EDAB30E54AC6}"/>
          </ac:spMkLst>
        </pc:spChg>
        <pc:spChg chg="mod">
          <ac:chgData name="Sreejith Rajan" userId="ec11bca0e4bee75f" providerId="LiveId" clId="{7B4F392D-EAB3-4CE7-903E-F84869825F47}" dt="2026-01-29T09:47:40.816" v="1347" actId="20577"/>
          <ac:spMkLst>
            <pc:docMk/>
            <pc:sldMk cId="3485488711" sldId="291"/>
            <ac:spMk id="3" creationId="{8616D05F-B51C-A5F8-851E-1C960A2D25D1}"/>
          </ac:spMkLst>
        </pc:spChg>
      </pc:sldChg>
      <pc:sldChg chg="modSp add mod ord">
        <pc:chgData name="Sreejith Rajan" userId="ec11bca0e4bee75f" providerId="LiveId" clId="{7B4F392D-EAB3-4CE7-903E-F84869825F47}" dt="2026-01-29T09:48:22.889" v="1356" actId="20577"/>
        <pc:sldMkLst>
          <pc:docMk/>
          <pc:sldMk cId="22085607" sldId="292"/>
        </pc:sldMkLst>
        <pc:spChg chg="mod">
          <ac:chgData name="Sreejith Rajan" userId="ec11bca0e4bee75f" providerId="LiveId" clId="{7B4F392D-EAB3-4CE7-903E-F84869825F47}" dt="2026-01-29T09:44:40.913" v="1240" actId="20577"/>
          <ac:spMkLst>
            <pc:docMk/>
            <pc:sldMk cId="22085607" sldId="292"/>
            <ac:spMk id="2" creationId="{C3B5DD5C-E89C-9928-7828-330493D6D747}"/>
          </ac:spMkLst>
        </pc:spChg>
        <pc:spChg chg="mod">
          <ac:chgData name="Sreejith Rajan" userId="ec11bca0e4bee75f" providerId="LiveId" clId="{7B4F392D-EAB3-4CE7-903E-F84869825F47}" dt="2026-01-29T09:48:22.889" v="1356" actId="20577"/>
          <ac:spMkLst>
            <pc:docMk/>
            <pc:sldMk cId="22085607" sldId="292"/>
            <ac:spMk id="3" creationId="{9ED32EAF-8AFD-86D2-3DB3-FF3F7AE648BB}"/>
          </ac:spMkLst>
        </pc:spChg>
      </pc:sldChg>
      <pc:sldChg chg="addSp modSp new mod">
        <pc:chgData name="Sreejith Rajan" userId="ec11bca0e4bee75f" providerId="LiveId" clId="{7B4F392D-EAB3-4CE7-903E-F84869825F47}" dt="2026-02-02T08:39:10.558" v="1622" actId="1076"/>
        <pc:sldMkLst>
          <pc:docMk/>
          <pc:sldMk cId="838514129" sldId="293"/>
        </pc:sldMkLst>
        <pc:spChg chg="mod">
          <ac:chgData name="Sreejith Rajan" userId="ec11bca0e4bee75f" providerId="LiveId" clId="{7B4F392D-EAB3-4CE7-903E-F84869825F47}" dt="2026-02-02T08:12:41.136" v="1372" actId="20577"/>
          <ac:spMkLst>
            <pc:docMk/>
            <pc:sldMk cId="838514129" sldId="293"/>
            <ac:spMk id="2" creationId="{B61DC38C-B935-CC0F-245B-0788725A1200}"/>
          </ac:spMkLst>
        </pc:spChg>
        <pc:spChg chg="mod">
          <ac:chgData name="Sreejith Rajan" userId="ec11bca0e4bee75f" providerId="LiveId" clId="{7B4F392D-EAB3-4CE7-903E-F84869825F47}" dt="2026-02-02T08:14:56.810" v="1382" actId="20577"/>
          <ac:spMkLst>
            <pc:docMk/>
            <pc:sldMk cId="838514129" sldId="293"/>
            <ac:spMk id="3" creationId="{02501693-791A-3B64-E8E0-30247C118106}"/>
          </ac:spMkLst>
        </pc:spChg>
        <pc:spChg chg="add mod">
          <ac:chgData name="Sreejith Rajan" userId="ec11bca0e4bee75f" providerId="LiveId" clId="{7B4F392D-EAB3-4CE7-903E-F84869825F47}" dt="2026-02-02T08:39:10.558" v="1622" actId="1076"/>
          <ac:spMkLst>
            <pc:docMk/>
            <pc:sldMk cId="838514129" sldId="293"/>
            <ac:spMk id="6" creationId="{63CE9AAE-9582-C11A-8D4A-677DF8791256}"/>
          </ac:spMkLst>
        </pc:spChg>
        <pc:picChg chg="add mod">
          <ac:chgData name="Sreejith Rajan" userId="ec11bca0e4bee75f" providerId="LiveId" clId="{7B4F392D-EAB3-4CE7-903E-F84869825F47}" dt="2026-02-02T08:39:00.744" v="1619" actId="1076"/>
          <ac:picMkLst>
            <pc:docMk/>
            <pc:sldMk cId="838514129" sldId="293"/>
            <ac:picMk id="5" creationId="{D5535780-FFB7-357D-C7F6-9893F0ACD0B0}"/>
          </ac:picMkLst>
        </pc:picChg>
      </pc:sldChg>
      <pc:sldChg chg="addSp delSp modSp new mod">
        <pc:chgData name="Sreejith Rajan" userId="ec11bca0e4bee75f" providerId="LiveId" clId="{7B4F392D-EAB3-4CE7-903E-F84869825F47}" dt="2026-02-02T08:35:14.191" v="1587" actId="20577"/>
        <pc:sldMkLst>
          <pc:docMk/>
          <pc:sldMk cId="1094232091" sldId="294"/>
        </pc:sldMkLst>
        <pc:spChg chg="mod">
          <ac:chgData name="Sreejith Rajan" userId="ec11bca0e4bee75f" providerId="LiveId" clId="{7B4F392D-EAB3-4CE7-903E-F84869825F47}" dt="2026-02-02T08:18:31.548" v="1425" actId="20577"/>
          <ac:spMkLst>
            <pc:docMk/>
            <pc:sldMk cId="1094232091" sldId="294"/>
            <ac:spMk id="2" creationId="{C3405D6E-FDB3-4C52-65D8-D1FD95D01AEF}"/>
          </ac:spMkLst>
        </pc:spChg>
        <pc:spChg chg="mod">
          <ac:chgData name="Sreejith Rajan" userId="ec11bca0e4bee75f" providerId="LiveId" clId="{7B4F392D-EAB3-4CE7-903E-F84869825F47}" dt="2026-02-02T08:35:14.191" v="1587" actId="20577"/>
          <ac:spMkLst>
            <pc:docMk/>
            <pc:sldMk cId="1094232091" sldId="294"/>
            <ac:spMk id="3" creationId="{86347F61-D9A1-06BA-2897-992480998344}"/>
          </ac:spMkLst>
        </pc:spChg>
        <pc:picChg chg="add mod">
          <ac:chgData name="Sreejith Rajan" userId="ec11bca0e4bee75f" providerId="LiveId" clId="{7B4F392D-EAB3-4CE7-903E-F84869825F47}" dt="2026-02-02T08:21:24.258" v="1465" actId="1076"/>
          <ac:picMkLst>
            <pc:docMk/>
            <pc:sldMk cId="1094232091" sldId="294"/>
            <ac:picMk id="7" creationId="{876E87A6-A21C-339D-E431-3311928BFA0E}"/>
          </ac:picMkLst>
        </pc:picChg>
      </pc:sldChg>
      <pc:sldChg chg="addSp modSp new mod">
        <pc:chgData name="Sreejith Rajan" userId="ec11bca0e4bee75f" providerId="LiveId" clId="{7B4F392D-EAB3-4CE7-903E-F84869825F47}" dt="2026-02-02T08:25:09.606" v="1502" actId="1076"/>
        <pc:sldMkLst>
          <pc:docMk/>
          <pc:sldMk cId="312179180" sldId="295"/>
        </pc:sldMkLst>
        <pc:spChg chg="mod">
          <ac:chgData name="Sreejith Rajan" userId="ec11bca0e4bee75f" providerId="LiveId" clId="{7B4F392D-EAB3-4CE7-903E-F84869825F47}" dt="2026-02-02T08:22:37.208" v="1481" actId="20577"/>
          <ac:spMkLst>
            <pc:docMk/>
            <pc:sldMk cId="312179180" sldId="295"/>
            <ac:spMk id="2" creationId="{14BAB176-CC97-CA7D-02E0-16695859D1CA}"/>
          </ac:spMkLst>
        </pc:spChg>
        <pc:spChg chg="mod">
          <ac:chgData name="Sreejith Rajan" userId="ec11bca0e4bee75f" providerId="LiveId" clId="{7B4F392D-EAB3-4CE7-903E-F84869825F47}" dt="2026-02-02T08:24:06.329" v="1498" actId="20577"/>
          <ac:spMkLst>
            <pc:docMk/>
            <pc:sldMk cId="312179180" sldId="295"/>
            <ac:spMk id="3" creationId="{94604663-0B0E-EF63-DB36-2558778FA607}"/>
          </ac:spMkLst>
        </pc:spChg>
        <pc:picChg chg="add mod">
          <ac:chgData name="Sreejith Rajan" userId="ec11bca0e4bee75f" providerId="LiveId" clId="{7B4F392D-EAB3-4CE7-903E-F84869825F47}" dt="2026-02-02T08:25:09.606" v="1502" actId="1076"/>
          <ac:picMkLst>
            <pc:docMk/>
            <pc:sldMk cId="312179180" sldId="295"/>
            <ac:picMk id="5" creationId="{0666F5A8-0AE5-47A7-55C1-10A1985273D5}"/>
          </ac:picMkLst>
        </pc:picChg>
      </pc:sldChg>
      <pc:sldChg chg="addSp delSp modSp new mod">
        <pc:chgData name="Sreejith Rajan" userId="ec11bca0e4bee75f" providerId="LiveId" clId="{7B4F392D-EAB3-4CE7-903E-F84869825F47}" dt="2026-02-02T08:29:48.696" v="1521"/>
        <pc:sldMkLst>
          <pc:docMk/>
          <pc:sldMk cId="484128902" sldId="296"/>
        </pc:sldMkLst>
        <pc:spChg chg="add mod">
          <ac:chgData name="Sreejith Rajan" userId="ec11bca0e4bee75f" providerId="LiveId" clId="{7B4F392D-EAB3-4CE7-903E-F84869825F47}" dt="2026-02-02T08:29:21.246" v="1517" actId="14100"/>
          <ac:spMkLst>
            <pc:docMk/>
            <pc:sldMk cId="484128902" sldId="296"/>
            <ac:spMk id="8" creationId="{BFCF2B5D-EDD6-7E60-9DA7-39D256E54F55}"/>
          </ac:spMkLst>
        </pc:spChg>
        <pc:spChg chg="add mod">
          <ac:chgData name="Sreejith Rajan" userId="ec11bca0e4bee75f" providerId="LiveId" clId="{7B4F392D-EAB3-4CE7-903E-F84869825F47}" dt="2026-02-02T08:29:48.696" v="1521"/>
          <ac:spMkLst>
            <pc:docMk/>
            <pc:sldMk cId="484128902" sldId="296"/>
            <ac:spMk id="9" creationId="{16AC3D22-2D9E-8772-D549-10D20618FB07}"/>
          </ac:spMkLst>
        </pc:spChg>
        <pc:picChg chg="add mod ord">
          <ac:chgData name="Sreejith Rajan" userId="ec11bca0e4bee75f" providerId="LiveId" clId="{7B4F392D-EAB3-4CE7-903E-F84869825F47}" dt="2026-02-02T08:25:48.181" v="1506" actId="1076"/>
          <ac:picMkLst>
            <pc:docMk/>
            <pc:sldMk cId="484128902" sldId="296"/>
            <ac:picMk id="5" creationId="{C62074D3-2129-3E96-0B2D-F443D3BA9E88}"/>
          </ac:picMkLst>
        </pc:picChg>
        <pc:picChg chg="add mod">
          <ac:chgData name="Sreejith Rajan" userId="ec11bca0e4bee75f" providerId="LiveId" clId="{7B4F392D-EAB3-4CE7-903E-F84869825F47}" dt="2026-02-02T08:26:30.358" v="1511" actId="14100"/>
          <ac:picMkLst>
            <pc:docMk/>
            <pc:sldMk cId="484128902" sldId="296"/>
            <ac:picMk id="7" creationId="{4533A4B4-E02A-2AE0-0D6D-86E97CEC24D7}"/>
          </ac:picMkLst>
        </pc:picChg>
      </pc:sldChg>
      <pc:sldChg chg="addSp delSp modSp new mod">
        <pc:chgData name="Sreejith Rajan" userId="ec11bca0e4bee75f" providerId="LiveId" clId="{7B4F392D-EAB3-4CE7-903E-F84869825F47}" dt="2026-02-04T13:28:34.480" v="2087" actId="14100"/>
        <pc:sldMkLst>
          <pc:docMk/>
          <pc:sldMk cId="829793420" sldId="297"/>
        </pc:sldMkLst>
        <pc:spChg chg="mod">
          <ac:chgData name="Sreejith Rajan" userId="ec11bca0e4bee75f" providerId="LiveId" clId="{7B4F392D-EAB3-4CE7-903E-F84869825F47}" dt="2026-02-02T08:30:43.893" v="1548" actId="20577"/>
          <ac:spMkLst>
            <pc:docMk/>
            <pc:sldMk cId="829793420" sldId="297"/>
            <ac:spMk id="2" creationId="{014A04CF-15C4-8330-6BA3-B4FFA15F0EA5}"/>
          </ac:spMkLst>
        </pc:spChg>
        <pc:spChg chg="add mod">
          <ac:chgData name="Sreejith Rajan" userId="ec11bca0e4bee75f" providerId="LiveId" clId="{7B4F392D-EAB3-4CE7-903E-F84869825F47}" dt="2026-02-02T08:32:19.085" v="1555" actId="1076"/>
          <ac:spMkLst>
            <pc:docMk/>
            <pc:sldMk cId="829793420" sldId="297"/>
            <ac:spMk id="7" creationId="{79A87CA1-23AE-49E7-3500-81008DB9341B}"/>
          </ac:spMkLst>
        </pc:spChg>
        <pc:picChg chg="add mod ord">
          <ac:chgData name="Sreejith Rajan" userId="ec11bca0e4bee75f" providerId="LiveId" clId="{7B4F392D-EAB3-4CE7-903E-F84869825F47}" dt="2026-02-04T13:28:34.480" v="2087" actId="14100"/>
          <ac:picMkLst>
            <pc:docMk/>
            <pc:sldMk cId="829793420" sldId="297"/>
            <ac:picMk id="5" creationId="{31545EA1-E64A-0739-FC05-006BD7D35D69}"/>
          </ac:picMkLst>
        </pc:picChg>
      </pc:sldChg>
      <pc:sldChg chg="modSp new mod">
        <pc:chgData name="Sreejith Rajan" userId="ec11bca0e4bee75f" providerId="LiveId" clId="{7B4F392D-EAB3-4CE7-903E-F84869825F47}" dt="2026-02-03T10:48:56.806" v="1673" actId="5793"/>
        <pc:sldMkLst>
          <pc:docMk/>
          <pc:sldMk cId="2629671684" sldId="298"/>
        </pc:sldMkLst>
        <pc:spChg chg="mod">
          <ac:chgData name="Sreejith Rajan" userId="ec11bca0e4bee75f" providerId="LiveId" clId="{7B4F392D-EAB3-4CE7-903E-F84869825F47}" dt="2026-02-02T09:44:37.829" v="1641" actId="20577"/>
          <ac:spMkLst>
            <pc:docMk/>
            <pc:sldMk cId="2629671684" sldId="298"/>
            <ac:spMk id="2" creationId="{6120A8E8-A9A6-3874-A43B-0D8B9F0E21C1}"/>
          </ac:spMkLst>
        </pc:spChg>
        <pc:spChg chg="mod">
          <ac:chgData name="Sreejith Rajan" userId="ec11bca0e4bee75f" providerId="LiveId" clId="{7B4F392D-EAB3-4CE7-903E-F84869825F47}" dt="2026-02-03T10:48:56.806" v="1673" actId="5793"/>
          <ac:spMkLst>
            <pc:docMk/>
            <pc:sldMk cId="2629671684" sldId="298"/>
            <ac:spMk id="3" creationId="{CD899691-4739-5679-D451-0C66FE06F942}"/>
          </ac:spMkLst>
        </pc:spChg>
      </pc:sldChg>
      <pc:sldChg chg="modSp new mod">
        <pc:chgData name="Sreejith Rajan" userId="ec11bca0e4bee75f" providerId="LiveId" clId="{7B4F392D-EAB3-4CE7-903E-F84869825F47}" dt="2026-02-03T10:52:44.445" v="1724"/>
        <pc:sldMkLst>
          <pc:docMk/>
          <pc:sldMk cId="3289453992" sldId="299"/>
        </pc:sldMkLst>
        <pc:spChg chg="mod">
          <ac:chgData name="Sreejith Rajan" userId="ec11bca0e4bee75f" providerId="LiveId" clId="{7B4F392D-EAB3-4CE7-903E-F84869825F47}" dt="2026-02-03T10:49:18.055" v="1723" actId="20577"/>
          <ac:spMkLst>
            <pc:docMk/>
            <pc:sldMk cId="3289453992" sldId="299"/>
            <ac:spMk id="2" creationId="{582BD62D-958D-F163-2631-5C8C63951B71}"/>
          </ac:spMkLst>
        </pc:spChg>
        <pc:spChg chg="mod">
          <ac:chgData name="Sreejith Rajan" userId="ec11bca0e4bee75f" providerId="LiveId" clId="{7B4F392D-EAB3-4CE7-903E-F84869825F47}" dt="2026-02-03T10:52:44.445" v="1724"/>
          <ac:spMkLst>
            <pc:docMk/>
            <pc:sldMk cId="3289453992" sldId="299"/>
            <ac:spMk id="3" creationId="{CBAB42D1-DAEE-8C6D-BD98-CB21421431A1}"/>
          </ac:spMkLst>
        </pc:spChg>
      </pc:sldChg>
      <pc:sldChg chg="modSp new mod">
        <pc:chgData name="Sreejith Rajan" userId="ec11bca0e4bee75f" providerId="LiveId" clId="{7B4F392D-EAB3-4CE7-903E-F84869825F47}" dt="2026-02-04T08:01:20.539" v="1758" actId="20577"/>
        <pc:sldMkLst>
          <pc:docMk/>
          <pc:sldMk cId="3893374817" sldId="300"/>
        </pc:sldMkLst>
        <pc:spChg chg="mod">
          <ac:chgData name="Sreejith Rajan" userId="ec11bca0e4bee75f" providerId="LiveId" clId="{7B4F392D-EAB3-4CE7-903E-F84869825F47}" dt="2026-02-04T08:00:14.226" v="1744" actId="313"/>
          <ac:spMkLst>
            <pc:docMk/>
            <pc:sldMk cId="3893374817" sldId="300"/>
            <ac:spMk id="2" creationId="{D90974F0-49AF-B5F3-15D4-6DB4BC005D9C}"/>
          </ac:spMkLst>
        </pc:spChg>
        <pc:spChg chg="mod">
          <ac:chgData name="Sreejith Rajan" userId="ec11bca0e4bee75f" providerId="LiveId" clId="{7B4F392D-EAB3-4CE7-903E-F84869825F47}" dt="2026-02-04T08:01:20.539" v="1758" actId="20577"/>
          <ac:spMkLst>
            <pc:docMk/>
            <pc:sldMk cId="3893374817" sldId="300"/>
            <ac:spMk id="3" creationId="{432D0774-65CF-4311-71F9-4CD9F11B49F0}"/>
          </ac:spMkLst>
        </pc:spChg>
      </pc:sldChg>
      <pc:sldChg chg="addSp delSp modSp new mod">
        <pc:chgData name="Sreejith Rajan" userId="ec11bca0e4bee75f" providerId="LiveId" clId="{7B4F392D-EAB3-4CE7-903E-F84869825F47}" dt="2026-02-04T08:02:37.357" v="1810" actId="313"/>
        <pc:sldMkLst>
          <pc:docMk/>
          <pc:sldMk cId="3334913749" sldId="301"/>
        </pc:sldMkLst>
        <pc:spChg chg="mod">
          <ac:chgData name="Sreejith Rajan" userId="ec11bca0e4bee75f" providerId="LiveId" clId="{7B4F392D-EAB3-4CE7-903E-F84869825F47}" dt="2026-02-04T08:02:37.357" v="1810" actId="313"/>
          <ac:spMkLst>
            <pc:docMk/>
            <pc:sldMk cId="3334913749" sldId="301"/>
            <ac:spMk id="2" creationId="{BE8788E4-A615-A1E5-C2CA-1C698CE7F2A5}"/>
          </ac:spMkLst>
        </pc:spChg>
        <pc:spChg chg="add del mod">
          <ac:chgData name="Sreejith Rajan" userId="ec11bca0e4bee75f" providerId="LiveId" clId="{7B4F392D-EAB3-4CE7-903E-F84869825F47}" dt="2026-02-04T08:02:33.791" v="1809" actId="20577"/>
          <ac:spMkLst>
            <pc:docMk/>
            <pc:sldMk cId="3334913749" sldId="301"/>
            <ac:spMk id="3" creationId="{309CAF0D-023E-E52D-0119-3AB14773DA08}"/>
          </ac:spMkLst>
        </pc:spChg>
        <pc:spChg chg="add mod">
          <ac:chgData name="Sreejith Rajan" userId="ec11bca0e4bee75f" providerId="LiveId" clId="{7B4F392D-EAB3-4CE7-903E-F84869825F47}" dt="2026-02-04T08:02:28.355" v="1806"/>
          <ac:spMkLst>
            <pc:docMk/>
            <pc:sldMk cId="3334913749" sldId="301"/>
            <ac:spMk id="4" creationId="{DA53EA27-9C0B-5C2F-1FD3-55AA414A31F6}"/>
          </ac:spMkLst>
        </pc:spChg>
      </pc:sldChg>
      <pc:sldChg chg="addSp modSp new mod">
        <pc:chgData name="Sreejith Rajan" userId="ec11bca0e4bee75f" providerId="LiveId" clId="{7B4F392D-EAB3-4CE7-903E-F84869825F47}" dt="2026-02-04T08:09:52.268" v="1902" actId="1076"/>
        <pc:sldMkLst>
          <pc:docMk/>
          <pc:sldMk cId="1197431595" sldId="302"/>
        </pc:sldMkLst>
        <pc:spChg chg="mod">
          <ac:chgData name="Sreejith Rajan" userId="ec11bca0e4bee75f" providerId="LiveId" clId="{7B4F392D-EAB3-4CE7-903E-F84869825F47}" dt="2026-02-04T08:03:25.470" v="1863" actId="20577"/>
          <ac:spMkLst>
            <pc:docMk/>
            <pc:sldMk cId="1197431595" sldId="302"/>
            <ac:spMk id="2" creationId="{DD88D976-5086-D2BF-6825-295F227AA746}"/>
          </ac:spMkLst>
        </pc:spChg>
        <pc:spChg chg="mod">
          <ac:chgData name="Sreejith Rajan" userId="ec11bca0e4bee75f" providerId="LiveId" clId="{7B4F392D-EAB3-4CE7-903E-F84869825F47}" dt="2026-02-04T08:09:17.692" v="1896" actId="20577"/>
          <ac:spMkLst>
            <pc:docMk/>
            <pc:sldMk cId="1197431595" sldId="302"/>
            <ac:spMk id="3" creationId="{A32B5F8E-24F7-750E-2E5C-E1D94D5F8747}"/>
          </ac:spMkLst>
        </pc:spChg>
        <pc:picChg chg="add mod modCrop">
          <ac:chgData name="Sreejith Rajan" userId="ec11bca0e4bee75f" providerId="LiveId" clId="{7B4F392D-EAB3-4CE7-903E-F84869825F47}" dt="2026-02-04T08:09:52.268" v="1902" actId="1076"/>
          <ac:picMkLst>
            <pc:docMk/>
            <pc:sldMk cId="1197431595" sldId="302"/>
            <ac:picMk id="5" creationId="{A0779B55-445D-CD23-8EA0-E1EC2B42053A}"/>
          </ac:picMkLst>
        </pc:picChg>
      </pc:sldChg>
      <pc:sldChg chg="addSp modSp new mod">
        <pc:chgData name="Sreejith Rajan" userId="ec11bca0e4bee75f" providerId="LiveId" clId="{7B4F392D-EAB3-4CE7-903E-F84869825F47}" dt="2026-02-04T08:12:08.308" v="1920" actId="1076"/>
        <pc:sldMkLst>
          <pc:docMk/>
          <pc:sldMk cId="4041791266" sldId="303"/>
        </pc:sldMkLst>
        <pc:spChg chg="mod">
          <ac:chgData name="Sreejith Rajan" userId="ec11bca0e4bee75f" providerId="LiveId" clId="{7B4F392D-EAB3-4CE7-903E-F84869825F47}" dt="2026-02-04T08:10:32.022" v="1907" actId="20577"/>
          <ac:spMkLst>
            <pc:docMk/>
            <pc:sldMk cId="4041791266" sldId="303"/>
            <ac:spMk id="2" creationId="{2369565F-07A2-DDD1-A9A5-976AD67016A3}"/>
          </ac:spMkLst>
        </pc:spChg>
        <pc:spChg chg="mod">
          <ac:chgData name="Sreejith Rajan" userId="ec11bca0e4bee75f" providerId="LiveId" clId="{7B4F392D-EAB3-4CE7-903E-F84869825F47}" dt="2026-02-04T08:11:39.991" v="1914" actId="15"/>
          <ac:spMkLst>
            <pc:docMk/>
            <pc:sldMk cId="4041791266" sldId="303"/>
            <ac:spMk id="3" creationId="{480003C2-9977-BF7E-6A1B-501DA18DFC13}"/>
          </ac:spMkLst>
        </pc:spChg>
        <pc:picChg chg="add mod">
          <ac:chgData name="Sreejith Rajan" userId="ec11bca0e4bee75f" providerId="LiveId" clId="{7B4F392D-EAB3-4CE7-903E-F84869825F47}" dt="2026-02-04T08:12:08.308" v="1920" actId="1076"/>
          <ac:picMkLst>
            <pc:docMk/>
            <pc:sldMk cId="4041791266" sldId="303"/>
            <ac:picMk id="5" creationId="{EBE5B9B3-2838-B52D-869B-F75F943FD18A}"/>
          </ac:picMkLst>
        </pc:picChg>
      </pc:sldChg>
      <pc:sldChg chg="addSp modSp new mod">
        <pc:chgData name="Sreejith Rajan" userId="ec11bca0e4bee75f" providerId="LiveId" clId="{7B4F392D-EAB3-4CE7-903E-F84869825F47}" dt="2026-02-04T08:16:58.842" v="1937" actId="1076"/>
        <pc:sldMkLst>
          <pc:docMk/>
          <pc:sldMk cId="3059473869" sldId="304"/>
        </pc:sldMkLst>
        <pc:spChg chg="mod">
          <ac:chgData name="Sreejith Rajan" userId="ec11bca0e4bee75f" providerId="LiveId" clId="{7B4F392D-EAB3-4CE7-903E-F84869825F47}" dt="2026-02-04T08:12:32.430" v="1922"/>
          <ac:spMkLst>
            <pc:docMk/>
            <pc:sldMk cId="3059473869" sldId="304"/>
            <ac:spMk id="2" creationId="{696FB79E-8173-F714-FF90-05E94194C277}"/>
          </ac:spMkLst>
        </pc:spChg>
        <pc:spChg chg="mod">
          <ac:chgData name="Sreejith Rajan" userId="ec11bca0e4bee75f" providerId="LiveId" clId="{7B4F392D-EAB3-4CE7-903E-F84869825F47}" dt="2026-02-04T08:16:23.132" v="1931" actId="20577"/>
          <ac:spMkLst>
            <pc:docMk/>
            <pc:sldMk cId="3059473869" sldId="304"/>
            <ac:spMk id="3" creationId="{7546057B-3E11-A018-98D4-CA6F418A6B02}"/>
          </ac:spMkLst>
        </pc:spChg>
        <pc:picChg chg="add mod modCrop">
          <ac:chgData name="Sreejith Rajan" userId="ec11bca0e4bee75f" providerId="LiveId" clId="{7B4F392D-EAB3-4CE7-903E-F84869825F47}" dt="2026-02-04T08:16:58.842" v="1937" actId="1076"/>
          <ac:picMkLst>
            <pc:docMk/>
            <pc:sldMk cId="3059473869" sldId="304"/>
            <ac:picMk id="5" creationId="{950E3F82-0428-559C-DDAA-B1A4F1218368}"/>
          </ac:picMkLst>
        </pc:picChg>
      </pc:sldChg>
      <pc:sldChg chg="addSp delSp modSp new mod">
        <pc:chgData name="Sreejith Rajan" userId="ec11bca0e4bee75f" providerId="LiveId" clId="{7B4F392D-EAB3-4CE7-903E-F84869825F47}" dt="2026-02-04T13:28:11.011" v="2084" actId="14100"/>
        <pc:sldMkLst>
          <pc:docMk/>
          <pc:sldMk cId="2095788429" sldId="305"/>
        </pc:sldMkLst>
        <pc:spChg chg="mod">
          <ac:chgData name="Sreejith Rajan" userId="ec11bca0e4bee75f" providerId="LiveId" clId="{7B4F392D-EAB3-4CE7-903E-F84869825F47}" dt="2026-02-04T08:17:24.125" v="1939"/>
          <ac:spMkLst>
            <pc:docMk/>
            <pc:sldMk cId="2095788429" sldId="305"/>
            <ac:spMk id="2" creationId="{E781B9F9-C351-3BD7-4C68-67E36F4DBDFD}"/>
          </ac:spMkLst>
        </pc:spChg>
        <pc:spChg chg="mod">
          <ac:chgData name="Sreejith Rajan" userId="ec11bca0e4bee75f" providerId="LiveId" clId="{7B4F392D-EAB3-4CE7-903E-F84869825F47}" dt="2026-02-04T08:21:01.309" v="1960" actId="1076"/>
          <ac:spMkLst>
            <pc:docMk/>
            <pc:sldMk cId="2095788429" sldId="305"/>
            <ac:spMk id="3" creationId="{2341FA90-BDFE-6883-EB51-B6D59B289983}"/>
          </ac:spMkLst>
        </pc:spChg>
        <pc:picChg chg="add del mod">
          <ac:chgData name="Sreejith Rajan" userId="ec11bca0e4bee75f" providerId="LiveId" clId="{7B4F392D-EAB3-4CE7-903E-F84869825F47}" dt="2026-02-04T08:19:53.121" v="1958" actId="931"/>
          <ac:picMkLst>
            <pc:docMk/>
            <pc:sldMk cId="2095788429" sldId="305"/>
            <ac:picMk id="5" creationId="{FE33DC65-3231-2E98-4585-D05E6FB71D60}"/>
          </ac:picMkLst>
        </pc:picChg>
        <pc:picChg chg="add del mod">
          <ac:chgData name="Sreejith Rajan" userId="ec11bca0e4bee75f" providerId="LiveId" clId="{7B4F392D-EAB3-4CE7-903E-F84869825F47}" dt="2026-02-04T08:21:09.857" v="1963" actId="478"/>
          <ac:picMkLst>
            <pc:docMk/>
            <pc:sldMk cId="2095788429" sldId="305"/>
            <ac:picMk id="7" creationId="{FDA89AC9-8C2B-7479-F410-FA661AB5A1E4}"/>
          </ac:picMkLst>
        </pc:picChg>
        <pc:picChg chg="add mod">
          <ac:chgData name="Sreejith Rajan" userId="ec11bca0e4bee75f" providerId="LiveId" clId="{7B4F392D-EAB3-4CE7-903E-F84869825F47}" dt="2026-02-04T13:28:11.011" v="2084" actId="14100"/>
          <ac:picMkLst>
            <pc:docMk/>
            <pc:sldMk cId="2095788429" sldId="305"/>
            <ac:picMk id="9" creationId="{57399A93-F7C2-2DCF-8E09-1B3B9E6815C7}"/>
          </ac:picMkLst>
        </pc:picChg>
      </pc:sldChg>
      <pc:sldChg chg="modSp new mod">
        <pc:chgData name="Sreejith Rajan" userId="ec11bca0e4bee75f" providerId="LiveId" clId="{7B4F392D-EAB3-4CE7-903E-F84869825F47}" dt="2026-02-04T08:25:54.633" v="1985" actId="15"/>
        <pc:sldMkLst>
          <pc:docMk/>
          <pc:sldMk cId="4198985954" sldId="306"/>
        </pc:sldMkLst>
        <pc:spChg chg="mod">
          <ac:chgData name="Sreejith Rajan" userId="ec11bca0e4bee75f" providerId="LiveId" clId="{7B4F392D-EAB3-4CE7-903E-F84869825F47}" dt="2026-02-04T08:24:58.287" v="1982" actId="20577"/>
          <ac:spMkLst>
            <pc:docMk/>
            <pc:sldMk cId="4198985954" sldId="306"/>
            <ac:spMk id="2" creationId="{115364C5-6CFB-A19B-37DA-657BC0A2D974}"/>
          </ac:spMkLst>
        </pc:spChg>
        <pc:spChg chg="mod">
          <ac:chgData name="Sreejith Rajan" userId="ec11bca0e4bee75f" providerId="LiveId" clId="{7B4F392D-EAB3-4CE7-903E-F84869825F47}" dt="2026-02-04T08:25:54.633" v="1985" actId="15"/>
          <ac:spMkLst>
            <pc:docMk/>
            <pc:sldMk cId="4198985954" sldId="306"/>
            <ac:spMk id="3" creationId="{6373E2E1-8EA1-AC04-C0C4-97E457BC33FE}"/>
          </ac:spMkLst>
        </pc:spChg>
      </pc:sldChg>
      <pc:sldChg chg="addSp modSp new mod">
        <pc:chgData name="Sreejith Rajan" userId="ec11bca0e4bee75f" providerId="LiveId" clId="{7B4F392D-EAB3-4CE7-903E-F84869825F47}" dt="2026-02-04T08:42:47.844" v="2082" actId="1076"/>
        <pc:sldMkLst>
          <pc:docMk/>
          <pc:sldMk cId="2049320460" sldId="307"/>
        </pc:sldMkLst>
        <pc:spChg chg="mod">
          <ac:chgData name="Sreejith Rajan" userId="ec11bca0e4bee75f" providerId="LiveId" clId="{7B4F392D-EAB3-4CE7-903E-F84869825F47}" dt="2026-02-04T08:26:21.088" v="2008" actId="20577"/>
          <ac:spMkLst>
            <pc:docMk/>
            <pc:sldMk cId="2049320460" sldId="307"/>
            <ac:spMk id="2" creationId="{14EAA839-3351-3EAE-517B-FC1AC640901A}"/>
          </ac:spMkLst>
        </pc:spChg>
        <pc:spChg chg="mod">
          <ac:chgData name="Sreejith Rajan" userId="ec11bca0e4bee75f" providerId="LiveId" clId="{7B4F392D-EAB3-4CE7-903E-F84869825F47}" dt="2026-02-04T08:31:02.311" v="2075" actId="20577"/>
          <ac:spMkLst>
            <pc:docMk/>
            <pc:sldMk cId="2049320460" sldId="307"/>
            <ac:spMk id="3" creationId="{ABB37113-BEEE-4F38-0352-37221E9A6CB2}"/>
          </ac:spMkLst>
        </pc:spChg>
        <pc:picChg chg="add mod">
          <ac:chgData name="Sreejith Rajan" userId="ec11bca0e4bee75f" providerId="LiveId" clId="{7B4F392D-EAB3-4CE7-903E-F84869825F47}" dt="2026-02-04T08:42:47.844" v="2082" actId="1076"/>
          <ac:picMkLst>
            <pc:docMk/>
            <pc:sldMk cId="2049320460" sldId="307"/>
            <ac:picMk id="5" creationId="{738460E8-2D5F-EDDD-DEA6-242F2367B7FD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3/11/2026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3/11/2026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gi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Computer Vision – Module 2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						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C7A23-0564-8C40-1C9E-FFB7ABFF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CBF0D62-215A-4F0D-9E87-10286D713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Enhancement - Overview</a:t>
            </a:r>
            <a:endParaRPr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51E4E5B-1DCC-4BE6-D37C-862AE9CE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Image enhancement improves visual quality or prepares image for further processing.</a:t>
            </a:r>
          </a:p>
          <a:p>
            <a:r>
              <a:rPr lang="en-IN" dirty="0"/>
              <a:t>Enhancement includes:</a:t>
            </a:r>
          </a:p>
          <a:p>
            <a:pPr lvl="1"/>
            <a:r>
              <a:rPr lang="en-IN" dirty="0"/>
              <a:t>Contrast enhancement</a:t>
            </a:r>
          </a:p>
          <a:p>
            <a:pPr lvl="1"/>
            <a:r>
              <a:rPr lang="en-IN" dirty="0"/>
              <a:t>Intensity normalization</a:t>
            </a:r>
          </a:p>
          <a:p>
            <a:pPr lvl="1"/>
            <a:r>
              <a:rPr lang="en-IN" dirty="0"/>
              <a:t>Smoothing</a:t>
            </a:r>
          </a:p>
          <a:p>
            <a:pPr lvl="1"/>
            <a:r>
              <a:rPr lang="en-IN" dirty="0"/>
              <a:t>Noise removal</a:t>
            </a:r>
          </a:p>
          <a:p>
            <a:r>
              <a:rPr lang="en-IN" dirty="0"/>
              <a:t>Important:</a:t>
            </a:r>
          </a:p>
          <a:p>
            <a:pPr marL="0" indent="0">
              <a:buNone/>
            </a:pPr>
            <a:r>
              <a:rPr lang="en-IN" dirty="0"/>
              <a:t>	👉 Enhancement improves perception</a:t>
            </a:r>
            <a:br>
              <a:rPr lang="en-IN" dirty="0"/>
            </a:br>
            <a:r>
              <a:rPr lang="en-IN" dirty="0"/>
              <a:t>	👉 It does NOT add new information</a:t>
            </a:r>
          </a:p>
        </p:txBody>
      </p:sp>
    </p:spTree>
    <p:extLst>
      <p:ext uri="{BB962C8B-B14F-4D97-AF65-F5344CB8AC3E}">
        <p14:creationId xmlns:p14="http://schemas.microsoft.com/office/powerpoint/2010/main" val="59466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Contrast Enhancement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13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If intensity values lie in a narrow range → image looks dull.</a:t>
                </a:r>
              </a:p>
              <a:p>
                <a:r>
                  <a:rPr lang="en-IN" dirty="0"/>
                  <a:t>We stretch values to full range 0–255.</a:t>
                </a:r>
              </a:p>
              <a:p>
                <a:pPr marL="0" indent="0">
                  <a:buNone/>
                </a:pPr>
                <a:r>
                  <a:rPr lang="en-IN" b="1" dirty="0"/>
                  <a:t> Mathematical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255</m:t>
                      </m:r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Linear transformation.</a:t>
                </a:r>
              </a:p>
              <a:p>
                <a:pPr marL="0" indent="0">
                  <a:buNone/>
                </a:pPr>
                <a:br>
                  <a:rPr lang="en-IN" dirty="0"/>
                </a:br>
                <a:endParaRPr lang="en-IN" dirty="0"/>
              </a:p>
              <a:p>
                <a:endParaRPr lang="en-IN" dirty="0"/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14" name="Content Placeholder 1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57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0519-B972-8D7F-8C58-9C23D0ED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F247C-BC93-52DB-77E7-71348FF77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Characteristics</a:t>
            </a:r>
          </a:p>
          <a:p>
            <a:pPr marL="0" indent="0">
              <a:buNone/>
            </a:pPr>
            <a:r>
              <a:rPr lang="en-IN" dirty="0"/>
              <a:t>	✔ Global operation</a:t>
            </a:r>
            <a:br>
              <a:rPr lang="en-IN" dirty="0"/>
            </a:br>
            <a:r>
              <a:rPr lang="en-IN" dirty="0"/>
              <a:t>	✔ Preserves relative brightness</a:t>
            </a:r>
            <a:br>
              <a:rPr lang="en-IN" dirty="0"/>
            </a:br>
            <a:r>
              <a:rPr lang="en-IN" dirty="0"/>
              <a:t>	✔ Does NOT remove noise</a:t>
            </a:r>
            <a:br>
              <a:rPr lang="en-IN" dirty="0"/>
            </a:br>
            <a:r>
              <a:rPr lang="en-IN" dirty="0"/>
              <a:t>	✔ Improves dynamic range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Applications</a:t>
            </a:r>
          </a:p>
          <a:p>
            <a:pPr lvl="1"/>
            <a:r>
              <a:rPr lang="en-IN" dirty="0"/>
              <a:t>X-ray image improvement</a:t>
            </a:r>
          </a:p>
          <a:p>
            <a:pPr lvl="1"/>
            <a:r>
              <a:rPr lang="en-IN" dirty="0"/>
              <a:t>Satellite images</a:t>
            </a:r>
          </a:p>
          <a:p>
            <a:pPr lvl="1"/>
            <a:r>
              <a:rPr lang="en-IN" dirty="0"/>
              <a:t>Underexposed images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939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5866-866C-8F75-495A-ED85200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EBB6-5B46-2D10-2765-BD4D2CCF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Contrast </a:t>
            </a:r>
            <a:r>
              <a:rPr lang="en-US" b="1" dirty="0" err="1"/>
              <a:t>Normalisation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8055FB-CDB2-2266-F128-38786D87C3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Standardize intensity of the image (Mostly for ML)</a:t>
                </a:r>
              </a:p>
              <a:p>
                <a:r>
                  <a:rPr lang="en-IN" b="1" dirty="0"/>
                  <a:t> Formula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𝑛𝑜𝑟𝑚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br>
                  <a:rPr lang="ar-AE" dirty="0"/>
                </a:br>
                <a:endParaRPr lang="ar-AE" dirty="0"/>
              </a:p>
              <a:p>
                <a:r>
                  <a:rPr lang="en-IN" b="1" dirty="0"/>
                  <a:t>Characteristics</a:t>
                </a:r>
              </a:p>
              <a:p>
                <a:pPr marL="0" indent="0">
                  <a:buNone/>
                </a:pPr>
                <a:r>
                  <a:rPr lang="en-IN" dirty="0"/>
                  <a:t>	✔ Mean = 0</a:t>
                </a:r>
                <a:br>
                  <a:rPr lang="en-IN" dirty="0"/>
                </a:br>
                <a:r>
                  <a:rPr lang="en-IN" dirty="0"/>
                  <a:t>	✔ Variance = 1</a:t>
                </a:r>
                <a:br>
                  <a:rPr lang="en-IN" dirty="0"/>
                </a:br>
                <a:r>
                  <a:rPr lang="en-IN" dirty="0"/>
                  <a:t>	✔ Used before CNN input</a:t>
                </a:r>
                <a:br>
                  <a:rPr lang="en-IN" dirty="0"/>
                </a:br>
                <a:r>
                  <a:rPr lang="en-IN" dirty="0"/>
                  <a:t>	✔ Produces negative values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8055FB-CDB2-2266-F128-38786D87C3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6503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098-AF40-A755-5E52-C5D22FAD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CC4-E3FE-6696-D7D4-DCDC65C9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F0DF6-B2EF-AC64-1460-8D5007FF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916832"/>
            <a:ext cx="9144000" cy="4267200"/>
          </a:xfrm>
        </p:spPr>
        <p:txBody>
          <a:bodyPr>
            <a:normAutofit lnSpcReduction="10000"/>
          </a:bodyPr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mean = average intensity of all 65,536 pixels</a:t>
            </a:r>
          </a:p>
          <a:p>
            <a:r>
              <a:rPr lang="en-IN" dirty="0"/>
              <a:t>std = spread of intensity values (contrast measure)</a:t>
            </a:r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C1C6A3-A5EE-B62F-6DA6-92F14B2716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r="12501" b="40185"/>
          <a:stretch>
            <a:fillRect/>
          </a:stretch>
        </p:blipFill>
        <p:spPr>
          <a:xfrm>
            <a:off x="2927648" y="1771754"/>
            <a:ext cx="5904656" cy="331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94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C73F-CDA9-DD6C-267F-97D50234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C38E5-E1BA-BDBA-3A7D-013F812C1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916832"/>
            <a:ext cx="9144000" cy="4267200"/>
          </a:xfrm>
        </p:spPr>
        <p:txBody>
          <a:bodyPr/>
          <a:lstStyle/>
          <a:p>
            <a:r>
              <a:rPr lang="en-US" dirty="0"/>
              <a:t>Reduce high-frequency components (noise).</a:t>
            </a:r>
          </a:p>
          <a:p>
            <a:r>
              <a:rPr lang="en-US" dirty="0"/>
              <a:t>Noise = rapid pixel fluctuations.</a:t>
            </a:r>
          </a:p>
          <a:p>
            <a:r>
              <a:rPr lang="en-US" dirty="0"/>
              <a:t>Smoothing = Low-pass filtering.</a:t>
            </a:r>
          </a:p>
          <a:p>
            <a:r>
              <a:rPr lang="en-IN" dirty="0"/>
              <a:t>Types of smoothing </a:t>
            </a:r>
          </a:p>
          <a:p>
            <a:pPr lvl="1"/>
            <a:r>
              <a:rPr lang="en-IN" dirty="0"/>
              <a:t>Mean filter</a:t>
            </a:r>
          </a:p>
          <a:p>
            <a:pPr lvl="1"/>
            <a:r>
              <a:rPr lang="en-IN" dirty="0"/>
              <a:t>Gaussian Filter</a:t>
            </a:r>
          </a:p>
          <a:p>
            <a:pPr lvl="1"/>
            <a:r>
              <a:rPr lang="en-IN" dirty="0"/>
              <a:t>Median Filter</a:t>
            </a:r>
          </a:p>
        </p:txBody>
      </p:sp>
    </p:spTree>
    <p:extLst>
      <p:ext uri="{BB962C8B-B14F-4D97-AF65-F5344CB8AC3E}">
        <p14:creationId xmlns:p14="http://schemas.microsoft.com/office/powerpoint/2010/main" val="577398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BC2-E8B7-F64F-97E1-EDCBE64A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203E6-B395-60BD-8553-7869DA75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Mean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74F7A-C7FB-FC2F-19AE-479543AA5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b="1" dirty="0"/>
                  <a:t>1️⃣ Mean Filter</a:t>
                </a:r>
              </a:p>
              <a:p>
                <a:r>
                  <a:rPr lang="en-IN" dirty="0"/>
                  <a:t>Kernel: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Characteristics:</a:t>
                </a:r>
              </a:p>
              <a:p>
                <a:r>
                  <a:rPr lang="en-IN" dirty="0"/>
                  <a:t>✔ Simple</a:t>
                </a:r>
                <a:br>
                  <a:rPr lang="en-IN" dirty="0"/>
                </a:br>
                <a:r>
                  <a:rPr lang="en-IN" dirty="0"/>
                  <a:t>✔ Linear</a:t>
                </a:r>
                <a:br>
                  <a:rPr lang="en-IN" dirty="0"/>
                </a:br>
                <a:r>
                  <a:rPr lang="en-IN" dirty="0"/>
                  <a:t>✔ Blurs edges</a:t>
                </a:r>
                <a:br>
                  <a:rPr lang="en-IN" dirty="0"/>
                </a:br>
                <a:r>
                  <a:rPr lang="en-IN" dirty="0"/>
                  <a:t>✔ Reduces Gaussian noise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74F7A-C7FB-FC2F-19AE-479543AA5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57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671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D470A-F35B-E369-AE37-3E931EF4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Gaussian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01D9F3-3754-0951-291F-32DE0C70D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Formula:</a:t>
                </a:r>
              </a:p>
              <a:p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sup>
                    </m:sSup>
                  </m:oMath>
                </a14:m>
                <a:endParaRPr lang="en-IN" dirty="0"/>
              </a:p>
              <a:p>
                <a:r>
                  <a:rPr lang="en-US" dirty="0"/>
                  <a:t>Characteristics:</a:t>
                </a:r>
              </a:p>
              <a:p>
                <a:pPr marL="0" indent="0">
                  <a:buNone/>
                </a:pPr>
                <a:r>
                  <a:rPr lang="en-US" dirty="0"/>
                  <a:t>	✔ Linear</a:t>
                </a:r>
                <a:br>
                  <a:rPr lang="en-US" dirty="0"/>
                </a:br>
                <a:r>
                  <a:rPr lang="en-US" dirty="0"/>
                  <a:t>	✔ Better edge preservation</a:t>
                </a:r>
                <a:br>
                  <a:rPr lang="en-US" dirty="0"/>
                </a:br>
                <a:r>
                  <a:rPr lang="en-US" dirty="0"/>
                  <a:t>	✔ Controlled by σ</a:t>
                </a:r>
                <a:br>
                  <a:rPr lang="en-US" dirty="0"/>
                </a:br>
                <a:r>
                  <a:rPr lang="en-US" dirty="0"/>
                  <a:t>	✔ Used in Canny edge detection</a:t>
                </a:r>
              </a:p>
              <a:p>
                <a:endParaRPr lang="ar-AE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01D9F3-3754-0951-291F-32DE0C70D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07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6669E-BD96-D32E-B9BA-7F8E7841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Median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A62D9-96EA-6D70-E1BD-2206E6FA3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Unlike mean or Gaussian filters:</a:t>
                </a:r>
              </a:p>
              <a:p>
                <a:pPr lvl="1"/>
                <a:r>
                  <a:rPr lang="en-US" dirty="0"/>
                  <a:t> It does NOT average values</a:t>
                </a:r>
              </a:p>
              <a:p>
                <a:pPr lvl="1"/>
                <a:r>
                  <a:rPr lang="en-US" dirty="0"/>
                  <a:t>It sorts values in the neighborhood</a:t>
                </a:r>
              </a:p>
              <a:p>
                <a:pPr lvl="1"/>
                <a:r>
                  <a:rPr lang="en-US" dirty="0"/>
                  <a:t>It picks the median</a:t>
                </a:r>
              </a:p>
              <a:p>
                <a:r>
                  <a:rPr lang="en-US" dirty="0"/>
                  <a:t>So it is a </a:t>
                </a:r>
                <a:r>
                  <a:rPr lang="en-US" b="1" dirty="0"/>
                  <a:t>non-linear filter</a:t>
                </a:r>
                <a:r>
                  <a:rPr lang="en-US" dirty="0"/>
                  <a:t>.</a:t>
                </a:r>
              </a:p>
              <a:p>
                <a:r>
                  <a:rPr lang="en-IN" dirty="0"/>
                  <a:t>For a 3×3 window: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IN" i="1"/>
                        <m:t>median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𝑖𝑦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b="0" dirty="0"/>
              </a:p>
              <a:p>
                <a:pPr marL="0" indent="0">
                  <a:buNone/>
                </a:pPr>
                <a:r>
                  <a:rPr lang="en-IN" dirty="0"/>
                  <a:t>Where: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input image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filtered image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:r>
                  <a:rPr lang="en-IN" dirty="0" err="1"/>
                  <a:t>I,j</a:t>
                </a:r>
                <a:r>
                  <a:rPr lang="en-IN" dirty="0"/>
                  <a:t> (Neighbourhood )= surrounding pixels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A62D9-96EA-6D70-E1BD-2206E6FA3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2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901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5E69-DBB8-9A84-901B-F8902586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7A0A3-2CAD-9B82-BB0A-D3112143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Applications</a:t>
            </a:r>
          </a:p>
          <a:p>
            <a:pPr marL="0" indent="0">
              <a:buNone/>
            </a:pPr>
            <a:r>
              <a:rPr lang="en-IN" dirty="0"/>
              <a:t>	✔ Biomedical images</a:t>
            </a:r>
            <a:br>
              <a:rPr lang="en-IN" dirty="0"/>
            </a:br>
            <a:r>
              <a:rPr lang="en-IN" dirty="0"/>
              <a:t>	✔ Surveillance systems</a:t>
            </a:r>
            <a:br>
              <a:rPr lang="en-IN" dirty="0"/>
            </a:br>
            <a:r>
              <a:rPr lang="en-IN" dirty="0"/>
              <a:t>	✔ Faulty sensor correction</a:t>
            </a:r>
            <a:br>
              <a:rPr lang="en-IN" dirty="0"/>
            </a:br>
            <a:r>
              <a:rPr lang="en-IN" dirty="0"/>
              <a:t>	✔ Preprocessing before segmentation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D878CB-0D83-26D1-06C6-95CD0D3075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4565085"/>
              </p:ext>
            </p:extLst>
          </p:nvPr>
        </p:nvGraphicFramePr>
        <p:xfrm>
          <a:off x="1847528" y="4293096"/>
          <a:ext cx="9144000" cy="17373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3519485393"/>
                    </a:ext>
                  </a:extLst>
                </a:gridCol>
                <a:gridCol w="1123528">
                  <a:extLst>
                    <a:ext uri="{9D8B030D-6E8A-4147-A177-3AD203B41FA5}">
                      <a16:colId xmlns:a16="http://schemas.microsoft.com/office/drawing/2014/main" val="3219441278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649547262"/>
                    </a:ext>
                  </a:extLst>
                </a:gridCol>
                <a:gridCol w="2130624">
                  <a:extLst>
                    <a:ext uri="{9D8B030D-6E8A-4147-A177-3AD203B41FA5}">
                      <a16:colId xmlns:a16="http://schemas.microsoft.com/office/drawing/2014/main" val="295990033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7523502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Filter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Linear?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Good for Gaussian Noise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Good for Salt &amp; Pepper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Edge Preservation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395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3373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Gaussian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155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Excellent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Excellent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903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8352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81D6-A397-FF96-77EE-DF392A3CD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Rank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21B45-62C6-AF35-6F8F-4D1A75537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Instead of median, choose kth element.</a:t>
            </a:r>
          </a:p>
          <a:p>
            <a:r>
              <a:rPr lang="en-IN" dirty="0"/>
              <a:t>Min filter → erosion</a:t>
            </a:r>
          </a:p>
          <a:p>
            <a:r>
              <a:rPr lang="en-IN" dirty="0"/>
              <a:t>Max filter → dilation</a:t>
            </a:r>
          </a:p>
        </p:txBody>
      </p:sp>
    </p:spTree>
    <p:extLst>
      <p:ext uri="{BB962C8B-B14F-4D97-AF65-F5344CB8AC3E}">
        <p14:creationId xmlns:p14="http://schemas.microsoft.com/office/powerpoint/2010/main" val="8252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CC8AF-72C7-78E6-5DDE-EDAB30E54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Erosion and Dilation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D05F-B51C-A5F8-851E-1C960A2D2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They are </a:t>
            </a:r>
            <a:r>
              <a:rPr lang="en-IN" b="1" dirty="0"/>
              <a:t>morphological operations</a:t>
            </a:r>
            <a:r>
              <a:rPr lang="en-IN" dirty="0"/>
              <a:t> used to process shapes in images.</a:t>
            </a:r>
          </a:p>
          <a:p>
            <a:r>
              <a:rPr lang="en-IN" dirty="0"/>
              <a:t>They work using a small matrix called a </a:t>
            </a:r>
            <a:r>
              <a:rPr lang="en-IN" b="1" dirty="0"/>
              <a:t>structuring element (kernel)</a:t>
            </a:r>
            <a:r>
              <a:rPr lang="en-IN" dirty="0"/>
              <a:t>.</a:t>
            </a:r>
          </a:p>
          <a:p>
            <a:r>
              <a:rPr lang="en-IN" dirty="0"/>
              <a:t>They are commonly applied to:</a:t>
            </a:r>
          </a:p>
          <a:p>
            <a:pPr lvl="1"/>
            <a:r>
              <a:rPr lang="en-IN" dirty="0"/>
              <a:t>Binary images</a:t>
            </a:r>
          </a:p>
          <a:p>
            <a:pPr lvl="1"/>
            <a:r>
              <a:rPr lang="en-IN" dirty="0"/>
              <a:t>Grayscale images</a:t>
            </a:r>
          </a:p>
          <a:p>
            <a:pPr lvl="1"/>
            <a:r>
              <a:rPr lang="en-IN" dirty="0"/>
              <a:t>Segmented objects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Effect</a:t>
            </a:r>
          </a:p>
          <a:p>
            <a:pPr marL="0" indent="0">
              <a:buNone/>
            </a:pPr>
            <a:r>
              <a:rPr lang="en-IN" dirty="0"/>
              <a:t>	✔ Expands objects</a:t>
            </a:r>
            <a:br>
              <a:rPr lang="en-IN" dirty="0"/>
            </a:br>
            <a:r>
              <a:rPr lang="en-IN" dirty="0"/>
              <a:t>	✔ Fills small holes</a:t>
            </a:r>
            <a:br>
              <a:rPr lang="en-IN" dirty="0"/>
            </a:br>
            <a:r>
              <a:rPr lang="en-IN" dirty="0"/>
              <a:t>	✔ Connects nearby components</a:t>
            </a:r>
            <a:br>
              <a:rPr lang="en-IN" dirty="0"/>
            </a:br>
            <a:r>
              <a:rPr lang="en-IN" dirty="0"/>
              <a:t>	✔ Thickens boundaries</a:t>
            </a:r>
          </a:p>
        </p:txBody>
      </p:sp>
    </p:spTree>
    <p:extLst>
      <p:ext uri="{BB962C8B-B14F-4D97-AF65-F5344CB8AC3E}">
        <p14:creationId xmlns:p14="http://schemas.microsoft.com/office/powerpoint/2010/main" val="3485488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7936A-0E49-A77C-2A51-375E04F88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D2F27-11CE-5CFC-B33B-5885F64A7D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b="1" dirty="0"/>
                  <a:t>DILATION </a:t>
                </a:r>
              </a:p>
              <a:p>
                <a:r>
                  <a:rPr lang="en-IN" dirty="0"/>
                  <a:t>Dilation </a:t>
                </a:r>
                <a:r>
                  <a:rPr lang="en-IN" b="1" dirty="0"/>
                  <a:t>grows</a:t>
                </a:r>
                <a:r>
                  <a:rPr lang="en-IN" dirty="0"/>
                  <a:t> bright regions (white objects).</a:t>
                </a:r>
              </a:p>
              <a:p>
                <a:r>
                  <a:rPr lang="en-IN" dirty="0"/>
                  <a:t>It expands object boundaries.</a:t>
                </a:r>
                <a:br>
                  <a:rPr lang="en-IN" dirty="0"/>
                </a:br>
                <a:endParaRPr lang="en-IN" dirty="0"/>
              </a:p>
              <a:p>
                <a:r>
                  <a:rPr lang="en-IN" b="1" dirty="0"/>
                  <a:t>Mathematical Definition (Binary Image)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endChr m:val="}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∅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Simplified explanation:</a:t>
                </a:r>
              </a:p>
              <a:p>
                <a:r>
                  <a:rPr lang="en-IN" dirty="0"/>
                  <a:t>If ANY pixel under the kernel is white → output pixel becomes white.</a:t>
                </a:r>
              </a:p>
              <a:p>
                <a:r>
                  <a:rPr lang="en-IN" dirty="0"/>
                  <a:t>Original object → grows outward after dilation.</a:t>
                </a:r>
                <a:br>
                  <a:rPr lang="en-IN" dirty="0"/>
                </a:br>
                <a:endParaRPr lang="en-IN" dirty="0"/>
              </a:p>
              <a:p>
                <a:endParaRPr lang="en-IN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D2F27-11CE-5CFC-B33B-5885F64A7D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1746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8CB1F-A559-A303-4744-775851E22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8D86A-87BE-3295-49A6-6F01471E0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EROSION</a:t>
            </a:r>
          </a:p>
          <a:p>
            <a:r>
              <a:rPr lang="en-IN" dirty="0"/>
              <a:t>Erosion </a:t>
            </a:r>
            <a:r>
              <a:rPr lang="en-IN" b="1" dirty="0"/>
              <a:t>shrinks</a:t>
            </a:r>
            <a:r>
              <a:rPr lang="en-IN" dirty="0"/>
              <a:t> bright regions.</a:t>
            </a:r>
          </a:p>
          <a:p>
            <a:r>
              <a:rPr lang="en-IN" dirty="0"/>
              <a:t>It removes boundary pixels.</a:t>
            </a:r>
          </a:p>
          <a:p>
            <a:r>
              <a:rPr lang="en-IN" dirty="0"/>
              <a:t>✔ Shrinks objects</a:t>
            </a:r>
            <a:br>
              <a:rPr lang="en-IN" dirty="0"/>
            </a:br>
            <a:r>
              <a:rPr lang="en-IN" dirty="0"/>
              <a:t>✔ Removes small noise</a:t>
            </a:r>
            <a:br>
              <a:rPr lang="en-IN" dirty="0"/>
            </a:br>
            <a:r>
              <a:rPr lang="en-IN" dirty="0"/>
              <a:t>✔ Breaks thin connections</a:t>
            </a:r>
            <a:br>
              <a:rPr lang="en-IN" dirty="0"/>
            </a:br>
            <a:r>
              <a:rPr lang="en-IN" dirty="0"/>
              <a:t>✔ Thins boundaries</a:t>
            </a:r>
          </a:p>
        </p:txBody>
      </p:sp>
    </p:spTree>
    <p:extLst>
      <p:ext uri="{BB962C8B-B14F-4D97-AF65-F5344CB8AC3E}">
        <p14:creationId xmlns:p14="http://schemas.microsoft.com/office/powerpoint/2010/main" val="3650375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AED4F-3E39-26B9-1F38-43039E149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67779D-E370-25AB-0F5B-2C280D780C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IN" b="1" dirty="0"/>
                  <a:t>Mathematical Definition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⊖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endChr m:val="}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⊆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Simplified explanation:</a:t>
                </a:r>
              </a:p>
              <a:p>
                <a:r>
                  <a:rPr lang="en-IN" dirty="0"/>
                  <a:t>Only if ALL pixels under kernel are white → output pixel remains white.</a:t>
                </a:r>
                <a:br>
                  <a:rPr lang="en-IN" dirty="0"/>
                </a:br>
                <a:endParaRPr lang="en-IN" dirty="0"/>
              </a:p>
              <a:p>
                <a:r>
                  <a:rPr lang="en-IN" b="1" dirty="0"/>
                  <a:t>Effect</a:t>
                </a:r>
              </a:p>
              <a:p>
                <a:r>
                  <a:rPr lang="en-IN" dirty="0"/>
                  <a:t>✔ Shrinks objects</a:t>
                </a:r>
                <a:br>
                  <a:rPr lang="en-IN" dirty="0"/>
                </a:br>
                <a:r>
                  <a:rPr lang="en-IN" dirty="0"/>
                  <a:t>✔ Removes small noise</a:t>
                </a:r>
                <a:br>
                  <a:rPr lang="en-IN" dirty="0"/>
                </a:br>
                <a:r>
                  <a:rPr lang="en-IN" dirty="0"/>
                  <a:t>✔ Breaks thin connections</a:t>
                </a:r>
                <a:br>
                  <a:rPr lang="en-IN" dirty="0"/>
                </a:br>
                <a:r>
                  <a:rPr lang="en-IN" dirty="0"/>
                  <a:t>✔ Thins boundaries</a:t>
                </a:r>
              </a:p>
              <a:p>
                <a:pPr marL="0" indent="0">
                  <a:buNone/>
                </a:pPr>
                <a:r>
                  <a:rPr lang="en-IN" b="1" dirty="0"/>
                  <a:t>Intuitive Explanation</a:t>
                </a:r>
              </a:p>
              <a:p>
                <a:r>
                  <a:rPr lang="en-IN" dirty="0"/>
                  <a:t>Dilation = “Add pixels”</a:t>
                </a:r>
              </a:p>
              <a:p>
                <a:r>
                  <a:rPr lang="en-IN" dirty="0"/>
                  <a:t>Erosion = “Remove pixels”</a:t>
                </a:r>
              </a:p>
              <a:p>
                <a:endParaRPr lang="en-IN" b="1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67779D-E370-25AB-0F5B-2C280D780C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0" t="-9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0158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915A-8FFF-1E7B-DF74-D845A265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DD5C-E89C-9928-7828-330493D6D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48680"/>
            <a:ext cx="9972600" cy="114300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2D Fourier Transform (Image Frequency Analysis)</a:t>
            </a:r>
            <a:br>
              <a:rPr lang="en-IN" b="1" dirty="0"/>
            </a:b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IN" dirty="0"/>
                  <a:t>When we move from 1D signals to images, we move from </a:t>
                </a:r>
                <a:r>
                  <a:rPr lang="en-IN" b="1" dirty="0"/>
                  <a:t>time → space</a:t>
                </a:r>
                <a:r>
                  <a:rPr lang="en-IN" dirty="0"/>
                  <a:t>.</a:t>
                </a:r>
              </a:p>
              <a:p>
                <a:r>
                  <a:rPr lang="en-IN" dirty="0"/>
                  <a:t>An image is a 2D signal:</a:t>
                </a:r>
              </a:p>
              <a:p>
                <a:pPr marL="0" indent="0">
                  <a:buNone/>
                </a:pPr>
                <a:r>
                  <a:rPr lang="en-IN" dirty="0"/>
                  <a:t>			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N" dirty="0"/>
                  <a:t>)</a:t>
                </a:r>
                <a:endParaRPr lang="ar-AE" dirty="0"/>
              </a:p>
              <a:p>
                <a:r>
                  <a:rPr lang="en-IN" dirty="0"/>
                  <a:t>The </a:t>
                </a:r>
                <a:r>
                  <a:rPr lang="en-IN" b="1" dirty="0"/>
                  <a:t>2D Continuous Fourier Transform (2D-CFT)</a:t>
                </a:r>
                <a:r>
                  <a:rPr lang="en-IN" dirty="0"/>
                  <a:t> is:</a:t>
                </a:r>
              </a:p>
              <a:p>
                <a:endParaRPr lang="en-IN" dirty="0"/>
              </a:p>
              <a:p>
                <a:endParaRPr lang="en-IN" b="1" dirty="0"/>
              </a:p>
              <a:p>
                <a:r>
                  <a:rPr lang="en-IN" b="1" dirty="0"/>
                  <a:t>What does it mean?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N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N" dirty="0"/>
                  <a:t>→ spatial domain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IN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IN" dirty="0"/>
                  <a:t>→ frequency domain</a:t>
                </a:r>
              </a:p>
              <a:p>
                <a:pPr marL="0" indent="0">
                  <a:buNone/>
                </a:pPr>
                <a:r>
                  <a:rPr lang="en-IN" dirty="0"/>
                  <a:t>	Low frequencies → smooth variations</a:t>
                </a:r>
              </a:p>
              <a:p>
                <a:pPr marL="0" indent="0">
                  <a:buNone/>
                </a:pPr>
                <a:r>
                  <a:rPr lang="en-IN" dirty="0"/>
                  <a:t>	High frequencies → edges &amp; sharp details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67" t="-2000" b="-18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215B3E3-101B-9B86-B0CA-C28D75A943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01" t="34250" r="8700" b="40550"/>
          <a:stretch>
            <a:fillRect/>
          </a:stretch>
        </p:blipFill>
        <p:spPr>
          <a:xfrm>
            <a:off x="4799856" y="3284984"/>
            <a:ext cx="4608512" cy="96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5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AAC46-D0E6-A61B-02FF-B3FD10427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2CD31-55A6-EE3B-175E-50D3049BB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Image filtering</a:t>
            </a:r>
          </a:p>
          <a:p>
            <a:r>
              <a:rPr lang="en-IN" dirty="0"/>
              <a:t>Compression</a:t>
            </a:r>
          </a:p>
          <a:p>
            <a:r>
              <a:rPr lang="en-IN" dirty="0"/>
              <a:t>Pattern recognition</a:t>
            </a:r>
          </a:p>
          <a:p>
            <a:r>
              <a:rPr lang="en-IN" dirty="0"/>
              <a:t>Biomedical imaging etc</a:t>
            </a:r>
          </a:p>
        </p:txBody>
      </p:sp>
    </p:spTree>
    <p:extLst>
      <p:ext uri="{BB962C8B-B14F-4D97-AF65-F5344CB8AC3E}">
        <p14:creationId xmlns:p14="http://schemas.microsoft.com/office/powerpoint/2010/main" val="2063298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3F0BE-C8FB-20E5-8EE9-139CD235B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Discrete Fourier Transform(DFT)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B80E8E-7480-0705-B033-EDDAFE02A8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Now in digital systems , signals are discrete.</a:t>
                </a:r>
              </a:p>
              <a:p>
                <a:r>
                  <a:rPr lang="en-IN" dirty="0"/>
                  <a:t>For N samples: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r>
                  <a:rPr lang="en-IN" b="1" dirty="0"/>
                  <a:t>Why DFT matters:</a:t>
                </a:r>
              </a:p>
              <a:p>
                <a:pPr lvl="1"/>
                <a:r>
                  <a:rPr lang="en-IN" dirty="0"/>
                  <a:t>Implementable in software</a:t>
                </a:r>
              </a:p>
              <a:p>
                <a:pPr lvl="1"/>
                <a:r>
                  <a:rPr lang="en-IN" dirty="0"/>
                  <a:t>Used in FFT algorithms</a:t>
                </a:r>
              </a:p>
              <a:p>
                <a:pPr lvl="1"/>
                <a:r>
                  <a:rPr lang="en-IN" dirty="0"/>
                  <a:t>Image processing</a:t>
                </a:r>
              </a:p>
              <a:p>
                <a:pPr lvl="1"/>
                <a:r>
                  <a:rPr lang="en-IN" dirty="0"/>
                  <a:t>Audio processing</a:t>
                </a:r>
              </a:p>
              <a:p>
                <a:pPr lvl="1"/>
                <a:r>
                  <a:rPr lang="en-IN" dirty="0"/>
                  <a:t>Embedded DSP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B80E8E-7480-0705-B033-EDDAFE02A8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768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C38C-B935-CC0F-245B-0788725A1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2D DFT(for images)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1688E67-3C63-444F-8ACE-C5D7140C6C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99" t="30375" r="2127" b="37564"/>
          <a:stretch>
            <a:fillRect/>
          </a:stretch>
        </p:blipFill>
        <p:spPr>
          <a:xfrm>
            <a:off x="2999656" y="2276872"/>
            <a:ext cx="5400600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514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5D6E-FDB3-4C52-65D8-D1FD95D0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Geometric Transformations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47F61-D9A1-06BA-2897-9924809983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Geometric transformations are fundamental operations in </a:t>
                </a:r>
                <a:r>
                  <a:rPr lang="en-IN" b="1" dirty="0"/>
                  <a:t>digital image processing</a:t>
                </a:r>
                <a:r>
                  <a:rPr lang="en-IN" dirty="0"/>
                  <a:t> and </a:t>
                </a:r>
                <a:r>
                  <a:rPr lang="en-IN" b="1" dirty="0"/>
                  <a:t>computer vision</a:t>
                </a:r>
                <a:r>
                  <a:rPr lang="en-IN" dirty="0"/>
                  <a:t>. They change the </a:t>
                </a:r>
                <a:r>
                  <a:rPr lang="en-IN" b="1" dirty="0"/>
                  <a:t>position, orientation, size, or shape</a:t>
                </a:r>
                <a:r>
                  <a:rPr lang="en-IN" dirty="0"/>
                  <a:t> of an image. These transformations map coordinates from one plane to another.</a:t>
                </a:r>
              </a:p>
              <a:p>
                <a:endParaRPr lang="en-IN" dirty="0"/>
              </a:p>
              <a:p>
                <a:r>
                  <a:rPr lang="en-IN" dirty="0"/>
                  <a:t>In general, a geometric transformation maps a point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/>
                          </m:ctrlPr>
                        </m:dPr>
                        <m:e>
                          <m:r>
                            <a:rPr lang="ar-AE" i="1"/>
                            <m:t>𝑥</m:t>
                          </m:r>
                        </m:e>
                        <m:e>
                          <m:r>
                            <a:rPr lang="ar-AE" i="1"/>
                            <m:t>𝑦</m:t>
                          </m:r>
                        </m:e>
                      </m:d>
                      <m:r>
                        <a:rPr lang="ar-AE"/>
                        <m:t>→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sSup>
                            <m:sSupPr>
                              <m:ctrlPr>
                                <a:rPr lang="ar-AE" i="1"/>
                              </m:ctrlPr>
                            </m:sSup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  <m:sup>
                              <m:r>
                                <a:rPr lang="ar-AE"/>
                                <m:t>′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/>
                              </m:ctrlPr>
                            </m:sSupPr>
                            <m:e>
                              <m:r>
                                <a:rPr lang="ar-AE" i="1"/>
                                <m:t>𝑦</m:t>
                              </m:r>
                            </m:e>
                            <m:sup>
                              <m:r>
                                <a:rPr lang="ar-AE"/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where the new coordinates are computed using mathematical functions.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47F61-D9A1-06BA-2897-9924809983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4232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AB176-CC97-CA7D-02E0-16695859D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604663-0B0E-EF63-DB36-2558778FA6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Geometric transformation refers to the </a:t>
                </a:r>
                <a:r>
                  <a:rPr lang="en-IN" b="1" dirty="0"/>
                  <a:t>mapping of image coordinates from one location to another</a:t>
                </a:r>
                <a:r>
                  <a:rPr lang="en-IN" dirty="0"/>
                  <a:t> while maintaining the relationship between pixels.</a:t>
                </a:r>
              </a:p>
              <a:p>
                <a:r>
                  <a:rPr lang="en-IN" dirty="0"/>
                  <a:t>The general form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/>
                          </m:ctrlPr>
                        </m:dPr>
                        <m:e>
                          <m:sSup>
                            <m:sSupPr>
                              <m:ctrlPr>
                                <a:rPr lang="ar-AE"/>
                              </m:ctrlPr>
                            </m:sSup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  <m:sup>
                              <m:r>
                                <a:rPr lang="ar-AE"/>
                                <m:t>′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/>
                              </m:ctrlPr>
                            </m:sSupPr>
                            <m:e>
                              <m:r>
                                <a:rPr lang="ar-AE" i="1"/>
                                <m:t>𝑦</m:t>
                              </m:r>
                            </m:e>
                            <m:sup>
                              <m:r>
                                <a:rPr lang="ar-AE"/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ar-AE"/>
                        <m:t>=</m:t>
                      </m:r>
                      <m:r>
                        <a:rPr lang="ar-AE" i="1"/>
                        <m:t>𝑇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𝑥</m:t>
                          </m:r>
                        </m:e>
                        <m:e>
                          <m:r>
                            <a:rPr lang="ar-AE" i="1"/>
                            <m:t>𝑦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 i="1"/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original coordinate</a:t>
                </a:r>
              </a:p>
              <a:p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/>
                        </m:ctrlPr>
                      </m:dPr>
                      <m:e>
                        <m:sSup>
                          <m:sSupPr>
                            <m:ctrlPr>
                              <a:rPr lang="ar-AE"/>
                            </m:ctrlPr>
                          </m:sSupPr>
                          <m:e>
                            <m:r>
                              <a:rPr lang="ar-AE" i="1"/>
                              <m:t>𝑥</m:t>
                            </m:r>
                          </m:e>
                          <m:sup>
                            <m:r>
                              <a:rPr lang="ar-AE"/>
                              <m:t>′</m:t>
                            </m:r>
                          </m:sup>
                        </m:sSup>
                      </m:e>
                      <m:e>
                        <m:sSup>
                          <m:sSupPr>
                            <m:ctrlPr>
                              <a:rPr lang="ar-AE" i="1"/>
                            </m:ctrlPr>
                          </m:sSupPr>
                          <m:e>
                            <m:r>
                              <a:rPr lang="ar-AE" i="1"/>
                              <m:t>𝑦</m:t>
                            </m:r>
                          </m:e>
                          <m:sup>
                            <m:r>
                              <a:rPr lang="ar-AE"/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transformed coordinate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𝑇</m:t>
                    </m:r>
                  </m:oMath>
                </a14:m>
                <a:r>
                  <a:rPr lang="en-IN" dirty="0"/>
                  <a:t>= transformation function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604663-0B0E-EF63-DB36-2558778FA6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 r="-2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79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BF948-0D1B-8D9C-AFB3-F2AAF0B16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9536" y="1412776"/>
            <a:ext cx="9144000" cy="4267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Common geometric operations include:</a:t>
            </a:r>
          </a:p>
          <a:p>
            <a:r>
              <a:rPr lang="en-US" b="1" dirty="0"/>
              <a:t>Translation</a:t>
            </a:r>
            <a:r>
              <a:rPr lang="en-US" dirty="0"/>
              <a:t> – shifting an image</a:t>
            </a:r>
          </a:p>
          <a:p>
            <a:r>
              <a:rPr lang="en-US" b="1" dirty="0"/>
              <a:t>Rotation</a:t>
            </a:r>
            <a:r>
              <a:rPr lang="en-US" dirty="0"/>
              <a:t> – rotating an image around a point</a:t>
            </a:r>
          </a:p>
          <a:p>
            <a:r>
              <a:rPr lang="en-US" b="1" dirty="0"/>
              <a:t>Scaling</a:t>
            </a:r>
            <a:r>
              <a:rPr lang="en-US" dirty="0"/>
              <a:t> – resizing the image</a:t>
            </a:r>
          </a:p>
          <a:p>
            <a:r>
              <a:rPr lang="en-US" b="1" dirty="0"/>
              <a:t>Shearing</a:t>
            </a:r>
            <a:r>
              <a:rPr lang="en-US" dirty="0"/>
              <a:t> – slanting the image</a:t>
            </a:r>
          </a:p>
          <a:p>
            <a:r>
              <a:rPr lang="en-US" b="1" dirty="0"/>
              <a:t>Reflection</a:t>
            </a:r>
            <a:r>
              <a:rPr lang="en-US" dirty="0"/>
              <a:t> – mirroring the image</a:t>
            </a:r>
          </a:p>
          <a:p>
            <a:pPr marL="0" indent="0">
              <a:buNone/>
            </a:pPr>
            <a:r>
              <a:rPr lang="en-US" dirty="0"/>
              <a:t>Most of these can be represented using </a:t>
            </a:r>
            <a:r>
              <a:rPr lang="en-US" b="1" dirty="0"/>
              <a:t>matrix operations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128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A04CF-15C4-8330-6BA3-B4FFA15F0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Classification of Geometric Transformation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6CE716-028A-01E0-EAFE-397DF181D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9496" y="1844824"/>
            <a:ext cx="9144000" cy="4267200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Geometric Transformations can be divided as </a:t>
            </a:r>
          </a:p>
          <a:p>
            <a:r>
              <a:rPr lang="en-IN" dirty="0"/>
              <a:t>Rigid transformation </a:t>
            </a:r>
          </a:p>
          <a:p>
            <a:r>
              <a:rPr lang="en-IN" dirty="0"/>
              <a:t>Similarity Transformation </a:t>
            </a:r>
          </a:p>
          <a:p>
            <a:r>
              <a:rPr lang="en-IN" dirty="0"/>
              <a:t>Affine Transformation</a:t>
            </a:r>
          </a:p>
          <a:p>
            <a:r>
              <a:rPr lang="en-IN" dirty="0"/>
              <a:t>Projective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829793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0A8E8-A9A6-3874-A43B-0D8B9F0E2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Rigid Transformation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99691-4739-5679-D451-0C66FE06F9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dirty="0"/>
              <a:t>Rigid transformations preserve </a:t>
            </a:r>
            <a:r>
              <a:rPr lang="en-IN" b="1" dirty="0"/>
              <a:t>shape, size, distance, and angles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Allowed operations:</a:t>
            </a:r>
          </a:p>
          <a:p>
            <a:r>
              <a:rPr lang="en-IN" b="1" dirty="0"/>
              <a:t>Translation</a:t>
            </a:r>
            <a:endParaRPr lang="en-IN" dirty="0"/>
          </a:p>
          <a:p>
            <a:r>
              <a:rPr lang="en-IN" b="1" dirty="0"/>
              <a:t>Rotation</a:t>
            </a:r>
            <a:endParaRPr lang="en-IN" dirty="0"/>
          </a:p>
          <a:p>
            <a:r>
              <a:rPr lang="en-IN" b="1" dirty="0"/>
              <a:t>Reflection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Properties preserved:</a:t>
            </a:r>
          </a:p>
          <a:p>
            <a:r>
              <a:rPr lang="en-IN" dirty="0"/>
              <a:t>Distance</a:t>
            </a:r>
          </a:p>
          <a:p>
            <a:r>
              <a:rPr lang="en-IN" dirty="0"/>
              <a:t>Angles</a:t>
            </a:r>
          </a:p>
          <a:p>
            <a:r>
              <a:rPr lang="en-IN" dirty="0"/>
              <a:t>Parallel lines</a:t>
            </a:r>
          </a:p>
          <a:p>
            <a:r>
              <a:rPr lang="en-IN" dirty="0"/>
              <a:t>Shape and size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B3B44D4-12E4-CADE-7C6D-8E08D105FA2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IN" dirty="0"/>
                  <a:t>Example:</a:t>
                </a:r>
              </a:p>
              <a:p>
                <a:endParaRPr lang="en-I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Applications:</a:t>
                </a:r>
              </a:p>
              <a:p>
                <a:r>
                  <a:rPr lang="en-IN" dirty="0"/>
                  <a:t>Object tracking</a:t>
                </a:r>
              </a:p>
              <a:p>
                <a:r>
                  <a:rPr lang="en-IN" dirty="0"/>
                  <a:t>Robotics</a:t>
                </a:r>
              </a:p>
              <a:p>
                <a:r>
                  <a:rPr lang="en-IN" dirty="0"/>
                  <a:t>Computer graphics</a:t>
                </a:r>
              </a:p>
              <a:p>
                <a:endParaRPr lang="en-US" dirty="0"/>
              </a:p>
              <a:p>
                <a:endParaRPr lang="en-IN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B3B44D4-12E4-CADE-7C6D-8E08D105FA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02" t="-199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96716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4BCF4-24E9-7EC9-0415-B858576D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Similarity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5C796-CBE5-D71A-47C3-5921FDB956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Similarity transformation allows </a:t>
            </a:r>
            <a:r>
              <a:rPr lang="en-US" b="1" dirty="0"/>
              <a:t>scaling along with rotation and translation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Operations allowed:</a:t>
            </a:r>
          </a:p>
          <a:p>
            <a:r>
              <a:rPr lang="en-US" dirty="0"/>
              <a:t>Translation</a:t>
            </a:r>
          </a:p>
          <a:p>
            <a:r>
              <a:rPr lang="en-US" dirty="0"/>
              <a:t>Rotation</a:t>
            </a:r>
          </a:p>
          <a:p>
            <a:r>
              <a:rPr lang="en-US" b="1" dirty="0"/>
              <a:t>Uniform scaling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Properties preserved:</a:t>
            </a:r>
          </a:p>
          <a:p>
            <a:r>
              <a:rPr lang="en-US" dirty="0"/>
              <a:t>Shape</a:t>
            </a:r>
          </a:p>
          <a:p>
            <a:r>
              <a:rPr lang="en-US" dirty="0"/>
              <a:t>Angles</a:t>
            </a:r>
          </a:p>
          <a:p>
            <a:r>
              <a:rPr lang="en-US" dirty="0"/>
              <a:t>Parallel lines</a:t>
            </a:r>
          </a:p>
          <a:p>
            <a:r>
              <a:rPr lang="en-US" dirty="0"/>
              <a:t>But </a:t>
            </a:r>
            <a:r>
              <a:rPr lang="en-US" b="1" dirty="0"/>
              <a:t>size changes</a:t>
            </a:r>
            <a:r>
              <a:rPr lang="en-US" dirty="0"/>
              <a:t>.</a:t>
            </a:r>
          </a:p>
          <a:p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8B8C304-8741-6523-3D35-5DE1CD9DCF1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IN" dirty="0"/>
                  <a:t>Example: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/>
                          </m:ctrlPr>
                        </m:sSupPr>
                        <m:e>
                          <m:r>
                            <a:rPr lang="ar-AE" i="1"/>
                            <m:t>𝑥</m:t>
                          </m:r>
                        </m:e>
                        <m:sup>
                          <m:r>
                            <a:rPr lang="ar-AE"/>
                            <m:t>′</m:t>
                          </m:r>
                        </m:sup>
                      </m:sSup>
                      <m:r>
                        <a:rPr lang="ar-AE"/>
                        <m:t>=</m:t>
                      </m:r>
                      <m:r>
                        <a:rPr lang="ar-AE" i="1"/>
                        <m:t>𝑠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𝑥</m:t>
                          </m:r>
                          <m:func>
                            <m:funcPr>
                              <m:ctrlPr>
                                <a:rPr lang="ar-AE" i="1"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/>
                                <m:t>cos</m:t>
                              </m:r>
                            </m:fName>
                            <m:e>
                              <m:r>
                                <a:rPr lang="ar-AE" i="1"/>
                                <m:t>𝜃</m:t>
                              </m:r>
                            </m:e>
                          </m:func>
                          <m:r>
                            <a:rPr lang="ar-AE"/>
                            <m:t>−</m:t>
                          </m:r>
                          <m:r>
                            <a:rPr lang="ar-AE" i="1"/>
                            <m:t>𝑦</m:t>
                          </m:r>
                          <m:func>
                            <m:funcPr>
                              <m:ctrlPr>
                                <a:rPr lang="ar-AE" i="1"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/>
                                <m:t>sin</m:t>
                              </m:r>
                            </m:fName>
                            <m:e>
                              <m:r>
                                <a:rPr lang="ar-AE" i="1"/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ar-AE"/>
                        <m:t>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𝑡</m:t>
                          </m:r>
                        </m:e>
                        <m:sub>
                          <m:r>
                            <a:rPr lang="ar-AE" i="1"/>
                            <m:t>𝑥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/>
                          </m:ctrlPr>
                        </m:sSupPr>
                        <m:e>
                          <m:r>
                            <a:rPr lang="ar-AE" i="1"/>
                            <m:t>𝑦</m:t>
                          </m:r>
                        </m:e>
                        <m:sup>
                          <m:r>
                            <a:rPr lang="ar-AE"/>
                            <m:t>′</m:t>
                          </m:r>
                        </m:sup>
                      </m:sSup>
                      <m:r>
                        <a:rPr lang="ar-AE"/>
                        <m:t>=</m:t>
                      </m:r>
                      <m:r>
                        <a:rPr lang="ar-AE" i="1"/>
                        <m:t>𝑠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𝑥</m:t>
                          </m:r>
                          <m:func>
                            <m:funcPr>
                              <m:ctrlPr>
                                <a:rPr lang="ar-AE" i="1"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/>
                                <m:t>sin</m:t>
                              </m:r>
                            </m:fName>
                            <m:e>
                              <m:r>
                                <a:rPr lang="ar-AE" i="1"/>
                                <m:t>𝜃</m:t>
                              </m:r>
                            </m:e>
                          </m:func>
                          <m:r>
                            <a:rPr lang="ar-AE"/>
                            <m:t>+</m:t>
                          </m:r>
                          <m:r>
                            <a:rPr lang="ar-AE" i="1"/>
                            <m:t>𝑦</m:t>
                          </m:r>
                          <m:func>
                            <m:funcPr>
                              <m:ctrlPr>
                                <a:rPr lang="ar-AE" i="1"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/>
                                <m:t>cos</m:t>
                              </m:r>
                            </m:fName>
                            <m:e>
                              <m:r>
                                <a:rPr lang="ar-AE" i="1"/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ar-AE"/>
                        <m:t>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𝑡</m:t>
                          </m:r>
                        </m:e>
                        <m:sub>
                          <m:r>
                            <a:rPr lang="ar-AE" i="1"/>
                            <m:t>𝑦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Applications:</a:t>
                </a:r>
              </a:p>
              <a:p>
                <a:r>
                  <a:rPr lang="en-IN" dirty="0"/>
                  <a:t>Image resizing</a:t>
                </a:r>
              </a:p>
              <a:p>
                <a:r>
                  <a:rPr lang="en-IN" dirty="0"/>
                  <a:t>Object detection</a:t>
                </a:r>
              </a:p>
              <a:p>
                <a:r>
                  <a:rPr lang="en-IN" dirty="0"/>
                  <a:t>Pattern recognition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8B8C304-8741-6523-3D35-5DE1CD9DCF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983" t="-199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3253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F4889-0F75-683B-7377-5EE4FE37E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Affine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33E58-F394-02B2-20B9-F0CD862E55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Affine transformation is </a:t>
            </a:r>
            <a:r>
              <a:rPr lang="en-US" b="1" dirty="0"/>
              <a:t>more general than similarity transformation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Operations allowed:</a:t>
            </a:r>
          </a:p>
          <a:p>
            <a:r>
              <a:rPr lang="en-US" dirty="0"/>
              <a:t>Translation</a:t>
            </a:r>
          </a:p>
          <a:p>
            <a:r>
              <a:rPr lang="en-US" dirty="0"/>
              <a:t>Rotation</a:t>
            </a:r>
          </a:p>
          <a:p>
            <a:r>
              <a:rPr lang="en-US" dirty="0"/>
              <a:t>Scaling</a:t>
            </a:r>
          </a:p>
          <a:p>
            <a:r>
              <a:rPr lang="en-US" b="1" dirty="0"/>
              <a:t>Shearing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Properties preserved:</a:t>
            </a:r>
          </a:p>
          <a:p>
            <a:r>
              <a:rPr lang="en-US" dirty="0"/>
              <a:t>Straight lines remain straight</a:t>
            </a:r>
          </a:p>
          <a:p>
            <a:r>
              <a:rPr lang="en-US" dirty="0"/>
              <a:t>Parallel lines remain parallel</a:t>
            </a:r>
          </a:p>
          <a:p>
            <a:r>
              <a:rPr lang="en-US" dirty="0"/>
              <a:t>But </a:t>
            </a:r>
            <a:r>
              <a:rPr lang="en-US" b="1" dirty="0"/>
              <a:t>angles and lengths are not preserved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ECE8C8-7766-6989-4042-50729A81C72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IN" dirty="0"/>
                  <a:t>Matrix form: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ar-AE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/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/>
                                    </m:ctrlPr>
                                  </m:sSup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sup>
                                    <m:r>
                                      <a:rPr lang="ar-AE"/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i="1"/>
                                    </m:ctrlPr>
                                  </m:sSupPr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  <m:sup>
                                    <m:r>
                                      <a:rPr lang="ar-AE"/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/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/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/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𝑡</m:t>
                                    </m:r>
                                  </m:e>
                                  <m:sub>
                                    <m:r>
                                      <a:rPr lang="ar-AE" i="1"/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/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/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𝑡</m:t>
                                    </m:r>
                                  </m:e>
                                  <m:sub>
                                    <m:r>
                                      <a:rPr lang="ar-AE" i="1"/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/>
                                  <m:t>0</m:t>
                                </m:r>
                              </m:e>
                              <m:e>
                                <m:r>
                                  <a:rPr lang="ar-AE"/>
                                  <m:t>0</m:t>
                                </m:r>
                              </m:e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r>
                                  <a:rPr lang="ar-AE" i="1"/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i="1"/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Applications:</a:t>
                </a:r>
              </a:p>
              <a:p>
                <a:r>
                  <a:rPr lang="en-IN" dirty="0"/>
                  <a:t>Image registration</a:t>
                </a:r>
              </a:p>
              <a:p>
                <a:r>
                  <a:rPr lang="en-IN" dirty="0"/>
                  <a:t>Image alignment</a:t>
                </a:r>
              </a:p>
              <a:p>
                <a:r>
                  <a:rPr lang="en-IN" dirty="0"/>
                  <a:t>Texture mapping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ECE8C8-7766-6989-4042-50729A81C7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983" t="-199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979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7C425-697D-C47A-3875-86404175A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Projective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99D0A-E7F3-9D3F-2B00-355F6E48BC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Projective transformation (</a:t>
            </a:r>
            <a:r>
              <a:rPr lang="en-US" dirty="0" err="1"/>
              <a:t>homography</a:t>
            </a:r>
            <a:r>
              <a:rPr lang="en-US" dirty="0"/>
              <a:t>) is the </a:t>
            </a:r>
            <a:r>
              <a:rPr lang="en-US" b="1" dirty="0"/>
              <a:t>most general geometric transformation used in image processing</a:t>
            </a:r>
            <a:r>
              <a:rPr lang="en-US" dirty="0"/>
              <a:t>.</a:t>
            </a:r>
          </a:p>
          <a:p>
            <a:r>
              <a:rPr lang="en-US" dirty="0"/>
              <a:t>Operations allowed:</a:t>
            </a:r>
          </a:p>
          <a:p>
            <a:r>
              <a:rPr lang="en-US" dirty="0"/>
              <a:t>All affine operations</a:t>
            </a:r>
          </a:p>
          <a:p>
            <a:r>
              <a:rPr lang="en-US" b="1" dirty="0"/>
              <a:t>Perspective distortion</a:t>
            </a:r>
            <a:endParaRPr lang="en-US" dirty="0"/>
          </a:p>
          <a:p>
            <a:r>
              <a:rPr lang="en-US" dirty="0"/>
              <a:t>Properties preserved:</a:t>
            </a:r>
          </a:p>
          <a:p>
            <a:r>
              <a:rPr lang="en-US" dirty="0"/>
              <a:t>Straight lines remain straight</a:t>
            </a:r>
          </a:p>
          <a:p>
            <a:pPr marL="0" indent="0">
              <a:buNone/>
            </a:pPr>
            <a:r>
              <a:rPr lang="en-US" dirty="0"/>
              <a:t>But:</a:t>
            </a:r>
          </a:p>
          <a:p>
            <a:r>
              <a:rPr lang="en-US" dirty="0"/>
              <a:t>Parallel lines may intersect.</a:t>
            </a:r>
          </a:p>
          <a:p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9D0E999-1C3A-7534-9E1D-66494CEB811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IN" dirty="0"/>
                  <a:t>Matrix form: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ar-AE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/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/>
                                    </m:ctrlPr>
                                  </m:sSup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sup>
                                    <m:r>
                                      <a:rPr lang="ar-AE"/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i="1"/>
                                    </m:ctrlPr>
                                  </m:sSupPr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  <m:sup>
                                    <m:r>
                                      <a:rPr lang="ar-AE"/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ar-AE" i="1"/>
                                  <m:t>𝑤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/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13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h</m:t>
                                    </m:r>
                                  </m:e>
                                  <m:sub>
                                    <m:r>
                                      <a:rPr lang="ar-AE"/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r>
                                  <a:rPr lang="ar-AE" i="1"/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i="1"/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Applications:</a:t>
                </a:r>
              </a:p>
              <a:p>
                <a:r>
                  <a:rPr lang="en-IN" dirty="0"/>
                  <a:t>Perspective correction</a:t>
                </a:r>
              </a:p>
              <a:p>
                <a:r>
                  <a:rPr lang="en-IN" dirty="0"/>
                  <a:t>Image stitching</a:t>
                </a:r>
              </a:p>
              <a:p>
                <a:r>
                  <a:rPr lang="en-IN" dirty="0"/>
                  <a:t>Augmented reality</a:t>
                </a:r>
              </a:p>
              <a:p>
                <a:r>
                  <a:rPr lang="en-IN" dirty="0"/>
                  <a:t>Camera calibration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9D0E999-1C3A-7534-9E1D-66494CEB8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1404" t="-185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40915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8D976-5086-D2BF-6825-295F227AA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B5F8E-24F7-750E-2E5C-E1D94D5F8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b="1" dirty="0"/>
                  <a:t>Finally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𝑅𝑖𝑔𝑖𝑑</m:t>
                      </m:r>
                      <m:r>
                        <a:rPr lang="en-IN"/>
                        <m:t>⊂</m:t>
                      </m:r>
                      <m:r>
                        <a:rPr lang="en-IN" i="1"/>
                        <m:t>𝑆𝑖𝑚𝑖𝑙𝑎𝑟𝑖𝑡𝑦</m:t>
                      </m:r>
                      <m:r>
                        <a:rPr lang="en-IN"/>
                        <m:t>⊂</m:t>
                      </m:r>
                      <m:r>
                        <a:rPr lang="en-IN" i="1"/>
                        <m:t>𝐴𝑓𝑓𝑖𝑛𝑒</m:t>
                      </m:r>
                      <m:r>
                        <a:rPr lang="en-IN"/>
                        <m:t>⊂</m:t>
                      </m:r>
                      <m:r>
                        <a:rPr lang="en-IN" i="1"/>
                        <m:t>𝑃𝑟𝑜𝑗𝑒𝑐𝑡𝑖𝑣𝑒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B5F8E-24F7-750E-2E5C-E1D94D5F8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74315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565F-07A2-DDD1-A9A5-976AD6701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003C2-9977-BF7E-6A1B-501DA18DF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Off-axis aberration</a:t>
            </a:r>
          </a:p>
          <a:p>
            <a:r>
              <a:rPr lang="en-US" dirty="0"/>
              <a:t>Magnification varies with aperture height</a:t>
            </a:r>
          </a:p>
          <a:p>
            <a:r>
              <a:rPr lang="en-US" dirty="0"/>
              <a:t>Effect: </a:t>
            </a:r>
          </a:p>
          <a:p>
            <a:pPr lvl="1"/>
            <a:r>
              <a:rPr lang="en-US" dirty="0"/>
              <a:t>point image becomes comet-shaped</a:t>
            </a:r>
          </a:p>
          <a:p>
            <a:pPr lvl="1"/>
            <a:r>
              <a:rPr lang="en-US" dirty="0"/>
              <a:t>Absent on optical axis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E5B9B3-2838-B52D-869B-F75F943FD1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040" y="1802178"/>
            <a:ext cx="5661000" cy="376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7912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FB79E-8173-F714-FF90-05E94194C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Astigmatism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6057B-3E11-A018-98D4-CA6F418A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Tangential and sagittal rays focus at different distances</a:t>
            </a:r>
          </a:p>
          <a:p>
            <a:r>
              <a:rPr lang="en-US" b="1" dirty="0"/>
              <a:t>Effect:</a:t>
            </a:r>
          </a:p>
          <a:p>
            <a:pPr lvl="1"/>
            <a:r>
              <a:rPr lang="en-US" dirty="0"/>
              <a:t>image of a point becomes two orthogonal line foci</a:t>
            </a:r>
          </a:p>
          <a:p>
            <a:r>
              <a:rPr lang="en-US" b="1" dirty="0"/>
              <a:t>Key surfaces:</a:t>
            </a:r>
            <a:r>
              <a:rPr lang="en-US" dirty="0"/>
              <a:t> tangential focus, sagittal focus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0E3F82-0428-559C-DDAA-B1A4F12183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62" r="10171"/>
          <a:stretch>
            <a:fillRect/>
          </a:stretch>
        </p:blipFill>
        <p:spPr>
          <a:xfrm>
            <a:off x="7176120" y="3423175"/>
            <a:ext cx="4908484" cy="345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4738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1B9F9-C351-3BD7-4C68-67E36F4DB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Field Curvature (Petzval Curvature)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1FA90-BDFE-6883-EB51-B6D59B289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3472" y="1600200"/>
            <a:ext cx="9144000" cy="4267200"/>
          </a:xfrm>
        </p:spPr>
        <p:txBody>
          <a:bodyPr/>
          <a:lstStyle/>
          <a:p>
            <a:r>
              <a:rPr lang="en-US" dirty="0"/>
              <a:t>Image surface is </a:t>
            </a:r>
            <a:r>
              <a:rPr lang="en-US" b="1" dirty="0"/>
              <a:t>curved</a:t>
            </a:r>
            <a:endParaRPr lang="en-US" dirty="0"/>
          </a:p>
          <a:p>
            <a:r>
              <a:rPr lang="en-US" dirty="0"/>
              <a:t>Center and edges cannot be focused simultaneously on a flat screen</a:t>
            </a:r>
          </a:p>
          <a:p>
            <a:r>
              <a:rPr lang="en-US" b="1" dirty="0"/>
              <a:t>Key visual cue:</a:t>
            </a:r>
          </a:p>
          <a:p>
            <a:pPr lvl="1"/>
            <a:r>
              <a:rPr lang="en-US" dirty="0"/>
              <a:t>🌙 Curved image plane</a:t>
            </a:r>
          </a:p>
          <a:p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399A93-F7C2-2DCF-8E09-1B3B9E681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60" y="2564904"/>
            <a:ext cx="6097236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788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64C5-6CFB-A19B-37DA-657BC0A2D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Distortion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3E2E1-8EA1-AC04-C0C4-97E457BC3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Distortion</a:t>
            </a:r>
            <a:r>
              <a:rPr lang="en-US" dirty="0"/>
              <a:t> occurs because </a:t>
            </a:r>
            <a:r>
              <a:rPr lang="en-US" b="1" dirty="0"/>
              <a:t>lateral magnification varies with field height</a:t>
            </a:r>
            <a:r>
              <a:rPr lang="en-US" dirty="0"/>
              <a:t> (distance of the object point from the optical axis).</a:t>
            </a:r>
          </a:p>
          <a:p>
            <a:r>
              <a:rPr lang="en-US" dirty="0"/>
              <a:t>In an ideal lens, magnification is constant across the field.</a:t>
            </a:r>
          </a:p>
          <a:p>
            <a:r>
              <a:rPr lang="en-US" dirty="0"/>
              <a:t>In a real lens, magnification </a:t>
            </a:r>
            <a:r>
              <a:rPr lang="en-US" b="1" dirty="0"/>
              <a:t>changes for off-axis points</a:t>
            </a:r>
            <a:r>
              <a:rPr lang="en-US" dirty="0"/>
              <a:t>.</a:t>
            </a:r>
          </a:p>
          <a:p>
            <a:r>
              <a:rPr lang="en-IN" dirty="0"/>
              <a:t>Image shape changes, but sharpness remains</a:t>
            </a:r>
          </a:p>
          <a:p>
            <a:r>
              <a:rPr lang="en-IN" b="1" dirty="0"/>
              <a:t>Types:</a:t>
            </a:r>
            <a:endParaRPr lang="en-IN" dirty="0"/>
          </a:p>
          <a:p>
            <a:pPr lvl="1"/>
            <a:r>
              <a:rPr lang="en-IN" b="1" dirty="0"/>
              <a:t>Barrel distortion</a:t>
            </a:r>
            <a:r>
              <a:rPr lang="en-IN" dirty="0"/>
              <a:t> → image bulges outward</a:t>
            </a:r>
          </a:p>
          <a:p>
            <a:pPr lvl="1"/>
            <a:r>
              <a:rPr lang="en-IN" b="1" dirty="0"/>
              <a:t>Pincushion distortion</a:t>
            </a:r>
            <a:r>
              <a:rPr lang="en-IN" dirty="0"/>
              <a:t> → image pinches inward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89859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AA839-3351-3EAE-517B-FC1AC6409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Chromatic Aberrations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37113-BEEE-4F38-0352-37221E9A6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Caused by wavelength-dependent refractive index</a:t>
            </a:r>
          </a:p>
          <a:p>
            <a:r>
              <a:rPr lang="en-IN" dirty="0"/>
              <a:t>Different colours focus at different positions because:   </a:t>
            </a:r>
            <a:r>
              <a:rPr lang="en-IN" b="1" dirty="0"/>
              <a:t>n = f(</a:t>
            </a:r>
            <a:r>
              <a:rPr lang="el-GR" b="1" dirty="0"/>
              <a:t>λ)</a:t>
            </a:r>
            <a:endParaRPr lang="el-GR" dirty="0"/>
          </a:p>
          <a:p>
            <a:r>
              <a:rPr lang="en-IN" b="1" dirty="0"/>
              <a:t>Types:</a:t>
            </a:r>
          </a:p>
          <a:p>
            <a:pPr lvl="1"/>
            <a:r>
              <a:rPr lang="en-IN" b="1" dirty="0"/>
              <a:t>Longitudinal (axial): </a:t>
            </a:r>
            <a:r>
              <a:rPr lang="en-IN" dirty="0"/>
              <a:t>Colours focus at different distances along the axis</a:t>
            </a:r>
          </a:p>
          <a:p>
            <a:pPr lvl="1"/>
            <a:r>
              <a:rPr lang="en-IN" b="1" dirty="0"/>
              <a:t>Lateral (transverse): </a:t>
            </a:r>
            <a:r>
              <a:rPr lang="en-IN" dirty="0"/>
              <a:t>Colours focus at different magnifications</a:t>
            </a:r>
          </a:p>
          <a:p>
            <a:r>
              <a:rPr lang="en-IN" b="1" dirty="0"/>
              <a:t>Effect:</a:t>
            </a:r>
            <a:endParaRPr lang="en-IN" dirty="0"/>
          </a:p>
          <a:p>
            <a:pPr lvl="1"/>
            <a:r>
              <a:rPr lang="en-IN" dirty="0"/>
              <a:t>Colour fringes (purple/green edges) </a:t>
            </a:r>
          </a:p>
          <a:p>
            <a:pPr lvl="1"/>
            <a:r>
              <a:rPr lang="en-IN" dirty="0"/>
              <a:t>Loss of contrast</a:t>
            </a:r>
          </a:p>
          <a:p>
            <a:r>
              <a:rPr lang="en-IN" b="1" dirty="0"/>
              <a:t>Fix:</a:t>
            </a:r>
          </a:p>
          <a:p>
            <a:pPr lvl="1"/>
            <a:r>
              <a:rPr lang="en-IN" dirty="0"/>
              <a:t>Achromatic doublets</a:t>
            </a:r>
          </a:p>
          <a:p>
            <a:pPr lvl="1"/>
            <a:r>
              <a:rPr lang="en-IN" dirty="0"/>
              <a:t>Apochromatic lenses</a:t>
            </a:r>
          </a:p>
          <a:p>
            <a:endParaRPr lang="en-IN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38460E8-2D5F-EDDD-DEA6-242F2367B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0136" y="3969012"/>
            <a:ext cx="4036768" cy="243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320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7262-467B-7F47-46C1-FEBB63925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CCD Camera (Charge Coupled Device)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926905-BB4C-1BE6-D7E2-17FD7330C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Incoming light generates charge packets in each pixel.</a:t>
            </a:r>
          </a:p>
          <a:p>
            <a:r>
              <a:rPr lang="en-US" dirty="0"/>
              <a:t>Charges are shifted across the chip (like a bucket brigade) to a single output amplifier.</a:t>
            </a:r>
          </a:p>
          <a:p>
            <a:r>
              <a:rPr lang="en-US" dirty="0"/>
              <a:t>Conversion to voltage happens outside the pixel array.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6EA857-D349-B6A9-7925-2147AE59DE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176" y="2996952"/>
            <a:ext cx="4392488" cy="322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2893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48CDE-2FF9-FE9F-7610-C27ECCA51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CCD Working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D6D0E0-F0B5-A9B1-97A9-D8D9B1EF4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905000"/>
            <a:ext cx="5286375" cy="304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4033BF-5B43-7B0C-C753-BF2876DCFF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144" y="1908917"/>
            <a:ext cx="4139952" cy="304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1675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D81D83-2294-F5CB-F27F-412E5DCA7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CCD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243366-C871-2981-6243-2448AEA1B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Key Characteristics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E8D703-FF01-E396-C05A-EF4403AD33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/>
              <a:t>Very low noise</a:t>
            </a:r>
          </a:p>
          <a:p>
            <a:r>
              <a:rPr lang="en-US" b="1" dirty="0"/>
              <a:t>Excellent image uniformity</a:t>
            </a:r>
          </a:p>
          <a:p>
            <a:r>
              <a:rPr lang="en-US" b="1" dirty="0"/>
              <a:t>High dynamic range</a:t>
            </a:r>
          </a:p>
          <a:p>
            <a:r>
              <a:rPr lang="en-US" b="1" dirty="0"/>
              <a:t>H</a:t>
            </a:r>
            <a:r>
              <a:rPr lang="en-US" dirty="0"/>
              <a:t>igher power consumption</a:t>
            </a:r>
          </a:p>
          <a:p>
            <a:r>
              <a:rPr lang="en-US" dirty="0"/>
              <a:t>Slower readout</a:t>
            </a:r>
          </a:p>
          <a:p>
            <a:r>
              <a:rPr lang="en-US" dirty="0"/>
              <a:t>More expensive manufacturing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38581B7-03D9-BC33-C84F-8C0F4B6406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Major Applications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C795EAF-156A-BE93-5D7C-3CB92AC77F8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Scientific imaging</a:t>
            </a:r>
          </a:p>
          <a:p>
            <a:r>
              <a:rPr lang="en-US" dirty="0"/>
              <a:t>Astronomy</a:t>
            </a:r>
          </a:p>
          <a:p>
            <a:r>
              <a:rPr lang="en-US" dirty="0"/>
              <a:t>High-end microscopy</a:t>
            </a:r>
          </a:p>
          <a:p>
            <a:r>
              <a:rPr lang="en-US" dirty="0"/>
              <a:t>Medical imaging (older systems)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95420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96108-F2EA-4514-7AA0-7F8884F24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CMOS Cameras (Complementary Metal-Oxide Semiconductor)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B858E0-5936-9BB3-5416-811AF3CC4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pixel has its own amplifier and readout circuitry.</a:t>
            </a:r>
          </a:p>
          <a:p>
            <a:r>
              <a:rPr lang="en-US" dirty="0"/>
              <a:t>Signal is converted to voltage inside the pixel.</a:t>
            </a:r>
          </a:p>
          <a:p>
            <a:r>
              <a:rPr lang="en-US" dirty="0"/>
              <a:t>Pixels are read row by row.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634475-2C78-38E9-A806-FAFFED7E8B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0136" y="2348880"/>
            <a:ext cx="4365104" cy="436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9990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81C5D-4832-EF29-A7AF-3B2F14228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CMOS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5757C-E707-C1B5-CC8A-5DA709EA7D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Key Characteristics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3D4686-39BD-A262-E0DA-53D3D83278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Low power consumption</a:t>
            </a:r>
          </a:p>
          <a:p>
            <a:r>
              <a:rPr lang="en-US" dirty="0"/>
              <a:t>High speed</a:t>
            </a:r>
          </a:p>
          <a:p>
            <a:r>
              <a:rPr lang="en-US" dirty="0"/>
              <a:t>Low cost</a:t>
            </a:r>
          </a:p>
          <a:p>
            <a:r>
              <a:rPr lang="en-US" dirty="0"/>
              <a:t>On-chip processing possible</a:t>
            </a:r>
          </a:p>
          <a:p>
            <a:r>
              <a:rPr lang="en-US" dirty="0"/>
              <a:t>More noise (older CMOS; modern ones are excellent)</a:t>
            </a:r>
          </a:p>
          <a:p>
            <a:r>
              <a:rPr lang="en-US" dirty="0"/>
              <a:t>Rolling shutter artifacts (in many sensors)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D7A044-6B11-B92D-5CC1-8A20D7DCD3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Applications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178E5C-69A3-569C-A7C8-A121B4D89E5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IN" dirty="0"/>
              <a:t>Mobile phone cameras</a:t>
            </a:r>
          </a:p>
          <a:p>
            <a:r>
              <a:rPr lang="en-IN" dirty="0"/>
              <a:t>Webcams</a:t>
            </a:r>
          </a:p>
          <a:p>
            <a:r>
              <a:rPr lang="en-IN" dirty="0"/>
              <a:t>Surveillance cameras</a:t>
            </a:r>
          </a:p>
          <a:p>
            <a:r>
              <a:rPr lang="en-IN" dirty="0"/>
              <a:t>Embedded vision (ESP32-CAM, Raspberry Pi Camera)</a:t>
            </a:r>
          </a:p>
        </p:txBody>
      </p:sp>
    </p:spTree>
    <p:extLst>
      <p:ext uri="{BB962C8B-B14F-4D97-AF65-F5344CB8AC3E}">
        <p14:creationId xmlns:p14="http://schemas.microsoft.com/office/powerpoint/2010/main" val="16063007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52991-2B73-5DCF-960D-CED110831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CCD vs CMOS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23C0504-32BC-6043-9470-C3DC86359C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0515176"/>
              </p:ext>
            </p:extLst>
          </p:nvPr>
        </p:nvGraphicFramePr>
        <p:xfrm>
          <a:off x="1524000" y="2682240"/>
          <a:ext cx="9144000" cy="256032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91029711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68600936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961563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rgbClr val="FF0000"/>
                          </a:solidFill>
                        </a:rPr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rgbClr val="FF0000"/>
                          </a:solidFill>
                        </a:rPr>
                        <a:t>CCD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F0000"/>
                          </a:solidFill>
                        </a:rPr>
                        <a:t>CMOS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17643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Very 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 (modern CMOS)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8799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Slower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Faster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6627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0545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35748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Integration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External ADC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On-chip ADC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445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Shutter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Global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Rolling / Global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905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1047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36F75-FB5E-2466-3096-94D30D0A0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Colour Cameras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E6FF3-16E1-BE4E-92FE-5F68B7659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727" y="1943022"/>
            <a:ext cx="9144000" cy="4267200"/>
          </a:xfrm>
        </p:spPr>
        <p:txBody>
          <a:bodyPr/>
          <a:lstStyle/>
          <a:p>
            <a:r>
              <a:rPr lang="en-US" dirty="0"/>
              <a:t>Image sensors are naturally monochrome</a:t>
            </a:r>
          </a:p>
          <a:p>
            <a:r>
              <a:rPr lang="en-US" dirty="0"/>
              <a:t>To capture color, we use color separation techniques.</a:t>
            </a:r>
          </a:p>
          <a:p>
            <a:r>
              <a:rPr lang="en-US" dirty="0"/>
              <a:t>Two main approaches:</a:t>
            </a:r>
          </a:p>
          <a:p>
            <a:pPr lvl="1"/>
            <a:r>
              <a:rPr lang="en-US" dirty="0"/>
              <a:t>Single-chip </a:t>
            </a:r>
            <a:r>
              <a:rPr lang="en-US" dirty="0" err="1"/>
              <a:t>colour</a:t>
            </a:r>
            <a:r>
              <a:rPr lang="en-US" dirty="0"/>
              <a:t> cameras</a:t>
            </a:r>
          </a:p>
          <a:p>
            <a:pPr lvl="1"/>
            <a:r>
              <a:rPr lang="en-US" dirty="0"/>
              <a:t>Three-chip (3-CCD / 3-CMOS) cameras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ADA316-5E77-E40E-D4BC-55A3892242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71536"/>
            <a:ext cx="4021945" cy="281418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EE0E729-1B21-2AAF-B3E1-AA5C4E7C4C64}"/>
              </a:ext>
            </a:extLst>
          </p:cNvPr>
          <p:cNvGrpSpPr/>
          <p:nvPr/>
        </p:nvGrpSpPr>
        <p:grpSpPr>
          <a:xfrm>
            <a:off x="8112223" y="2943318"/>
            <a:ext cx="4021945" cy="3101906"/>
            <a:chOff x="8112223" y="2943318"/>
            <a:chExt cx="4021945" cy="310190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5BE09D4-75BD-35BA-EBBE-F7774702BB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666" t="13650" r="17336" b="17051"/>
            <a:stretch>
              <a:fillRect/>
            </a:stretch>
          </p:blipFill>
          <p:spPr>
            <a:xfrm>
              <a:off x="8112223" y="2994094"/>
              <a:ext cx="4021945" cy="305113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A27BF4F-AD23-6EC0-A1C6-551F3786A6C6}"/>
                </a:ext>
              </a:extLst>
            </p:cNvPr>
            <p:cNvSpPr txBox="1"/>
            <p:nvPr/>
          </p:nvSpPr>
          <p:spPr>
            <a:xfrm>
              <a:off x="9067839" y="3063656"/>
              <a:ext cx="1368152" cy="11736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endParaRPr lang="en-IN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C4C6153-3FA1-5B44-0E2C-450A2841BD71}"/>
                </a:ext>
              </a:extLst>
            </p:cNvPr>
            <p:cNvSpPr txBox="1"/>
            <p:nvPr/>
          </p:nvSpPr>
          <p:spPr>
            <a:xfrm>
              <a:off x="10200456" y="3442116"/>
              <a:ext cx="1368152" cy="11736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endParaRPr lang="en-IN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01C6359-F054-0DDC-9C25-7BB69E2C87A9}"/>
                </a:ext>
              </a:extLst>
            </p:cNvPr>
            <p:cNvSpPr txBox="1"/>
            <p:nvPr/>
          </p:nvSpPr>
          <p:spPr>
            <a:xfrm>
              <a:off x="10109958" y="3546050"/>
              <a:ext cx="1368152" cy="11736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endParaRPr lang="en-IN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ADCD7B-BA2D-BB4E-ED4A-F2A78CA286BF}"/>
                </a:ext>
              </a:extLst>
            </p:cNvPr>
            <p:cNvSpPr txBox="1"/>
            <p:nvPr/>
          </p:nvSpPr>
          <p:spPr>
            <a:xfrm>
              <a:off x="8652792" y="2943318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b="1" dirty="0">
                  <a:solidFill>
                    <a:schemeClr val="bg1"/>
                  </a:solidFill>
                </a:rPr>
                <a:t>Micro lens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F24F459-65CE-94E6-CD61-75A12551F281}"/>
                </a:ext>
              </a:extLst>
            </p:cNvPr>
            <p:cNvSpPr txBox="1"/>
            <p:nvPr/>
          </p:nvSpPr>
          <p:spPr>
            <a:xfrm>
              <a:off x="10035506" y="3294085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b="1" dirty="0">
                  <a:solidFill>
                    <a:schemeClr val="bg1"/>
                  </a:solidFill>
                </a:rPr>
                <a:t>Filter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FB621D-2198-E39F-CFFE-2145234A0A21}"/>
                </a:ext>
              </a:extLst>
            </p:cNvPr>
            <p:cNvSpPr txBox="1"/>
            <p:nvPr/>
          </p:nvSpPr>
          <p:spPr>
            <a:xfrm>
              <a:off x="10849295" y="3947897"/>
              <a:ext cx="1152128" cy="2880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endParaRPr lang="en-IN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442D819-F4F2-6CAC-FCC1-5A5F0C578CDD}"/>
                </a:ext>
              </a:extLst>
            </p:cNvPr>
            <p:cNvSpPr txBox="1"/>
            <p:nvPr/>
          </p:nvSpPr>
          <p:spPr>
            <a:xfrm>
              <a:off x="11072538" y="3891956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b="1" dirty="0">
                  <a:solidFill>
                    <a:schemeClr val="bg1"/>
                  </a:solidFill>
                </a:rPr>
                <a:t>Sensor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84719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C28-3127-9110-C320-C685EE5CD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Single Chip Camera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60C90-A564-D209-FB9F-261C6941E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Bayer filter array is placed on top of the sensor.</a:t>
            </a:r>
          </a:p>
          <a:p>
            <a:r>
              <a:rPr lang="en-US" dirty="0"/>
              <a:t>Each pixel sees only one color:</a:t>
            </a:r>
          </a:p>
          <a:p>
            <a:pPr lvl="1"/>
            <a:r>
              <a:rPr lang="en-US" dirty="0"/>
              <a:t>50% Green</a:t>
            </a:r>
          </a:p>
          <a:p>
            <a:pPr lvl="1"/>
            <a:r>
              <a:rPr lang="en-US" dirty="0"/>
              <a:t>25% Red</a:t>
            </a:r>
          </a:p>
          <a:p>
            <a:pPr lvl="1"/>
            <a:r>
              <a:rPr lang="en-US" dirty="0"/>
              <a:t>25% Blue</a:t>
            </a:r>
          </a:p>
          <a:p>
            <a:r>
              <a:rPr lang="en-US" dirty="0"/>
              <a:t>Missing colors are reconstructed using </a:t>
            </a:r>
            <a:r>
              <a:rPr lang="en-US" dirty="0" err="1"/>
              <a:t>demosaicing</a:t>
            </a:r>
            <a:r>
              <a:rPr lang="en-US" dirty="0"/>
              <a:t> algorithms.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930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4FCC-B4C2-7E42-F99C-F8A90522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BCDDB-699A-04A5-3EF8-A6CB4E786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Single Chip Colour Camera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AE022-5C1C-16C9-AB58-4350D0E07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Key Characteristics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8FAB59-5972-187A-10BD-2D159E0B9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568952" cy="4010744"/>
          </a:xfrm>
        </p:spPr>
        <p:txBody>
          <a:bodyPr/>
          <a:lstStyle/>
          <a:p>
            <a:r>
              <a:rPr lang="en-IN" dirty="0"/>
              <a:t>Compact</a:t>
            </a:r>
          </a:p>
          <a:p>
            <a:r>
              <a:rPr lang="en-IN" dirty="0"/>
              <a:t>Low cost</a:t>
            </a:r>
          </a:p>
          <a:p>
            <a:r>
              <a:rPr lang="en-IN" dirty="0"/>
              <a:t>Low power</a:t>
            </a:r>
          </a:p>
          <a:p>
            <a:r>
              <a:rPr lang="en-IN" dirty="0"/>
              <a:t>Ideal for embedded systems</a:t>
            </a:r>
          </a:p>
          <a:p>
            <a:r>
              <a:rPr lang="en-IN" dirty="0"/>
              <a:t>Lower colour accuracy</a:t>
            </a:r>
          </a:p>
          <a:p>
            <a:r>
              <a:rPr lang="en-IN" dirty="0"/>
              <a:t>Reduced resolution per colour</a:t>
            </a:r>
          </a:p>
          <a:p>
            <a:r>
              <a:rPr lang="en-IN" dirty="0"/>
              <a:t> Colour artifacts possible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1262BA-7A5B-71AF-FBAE-7FC6CEA647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Applications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EBE6F0-57E6-4701-B85B-5630756311C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Smartphones</a:t>
            </a:r>
          </a:p>
          <a:p>
            <a:r>
              <a:rPr lang="en-US" dirty="0"/>
              <a:t>Consumer cameras</a:t>
            </a:r>
          </a:p>
          <a:p>
            <a:r>
              <a:rPr lang="en-US" dirty="0"/>
              <a:t>Machine vision (cost-sensitive)</a:t>
            </a:r>
          </a:p>
          <a:p>
            <a:r>
              <a:rPr lang="en-US" dirty="0"/>
              <a:t>IoT &amp; embedded cameras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02039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41599-BF3D-E08B-B5CF-E10F93728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Three-Chip (3-CCD / 3-CMOS) </a:t>
            </a:r>
            <a:r>
              <a:rPr lang="en-US" dirty="0" err="1"/>
              <a:t>Colour</a:t>
            </a:r>
            <a:r>
              <a:rPr lang="en-US" dirty="0"/>
              <a:t> Cameras</a:t>
            </a:r>
            <a:endParaRPr lang="en-IN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9241BC-8C4E-C5F8-AA59-C1890FD0C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Incoming light passes through a dichroic prism.</a:t>
            </a:r>
          </a:p>
          <a:p>
            <a:r>
              <a:rPr lang="en-US" dirty="0"/>
              <a:t>Light is split into:</a:t>
            </a:r>
          </a:p>
          <a:p>
            <a:pPr lvl="1"/>
            <a:r>
              <a:rPr lang="en-US" dirty="0"/>
              <a:t>Red → Sensor 1</a:t>
            </a:r>
          </a:p>
          <a:p>
            <a:pPr lvl="1"/>
            <a:r>
              <a:rPr lang="en-US" dirty="0"/>
              <a:t>Green → Sensor 2</a:t>
            </a:r>
          </a:p>
          <a:p>
            <a:pPr lvl="1"/>
            <a:r>
              <a:rPr lang="en-US" dirty="0"/>
              <a:t>Blue → Sensor 3</a:t>
            </a:r>
          </a:p>
          <a:p>
            <a:r>
              <a:rPr lang="en-US" dirty="0"/>
              <a:t>Each sensor captures full resolution for its </a:t>
            </a:r>
            <a:r>
              <a:rPr lang="en-US" dirty="0" err="1"/>
              <a:t>colour</a:t>
            </a:r>
            <a:r>
              <a:rPr lang="en-US" dirty="0"/>
              <a:t>.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0FE799C-ADEB-715E-34D3-5DE3321A4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1815" y="975332"/>
            <a:ext cx="3338291" cy="27363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6C4FED-9AEE-B5CF-E730-553E94E4E0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888" y="3852104"/>
            <a:ext cx="2980144" cy="298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223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0A142-A92D-DE8A-7B59-621028E2E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B4D2-E270-AD09-7258-E8E4D4D7E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CMOS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D2751E-3F59-3FCF-EE63-D315BC83D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Key Characteristics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0D6A0F-40D3-3E38-7BF7-45F7002AF7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IN" dirty="0"/>
              <a:t>Excellent </a:t>
            </a:r>
            <a:r>
              <a:rPr lang="en-IN" dirty="0" err="1"/>
              <a:t>color</a:t>
            </a:r>
            <a:r>
              <a:rPr lang="en-IN" dirty="0"/>
              <a:t> accuracy</a:t>
            </a:r>
          </a:p>
          <a:p>
            <a:r>
              <a:rPr lang="en-IN" dirty="0"/>
              <a:t>High resolution </a:t>
            </a:r>
          </a:p>
          <a:p>
            <a:r>
              <a:rPr lang="en-IN" dirty="0"/>
              <a:t>No </a:t>
            </a:r>
            <a:r>
              <a:rPr lang="en-IN" dirty="0" err="1"/>
              <a:t>demosaicing</a:t>
            </a:r>
            <a:r>
              <a:rPr lang="en-IN" dirty="0"/>
              <a:t> artifacts</a:t>
            </a:r>
          </a:p>
          <a:p>
            <a:r>
              <a:rPr lang="en-IN" dirty="0"/>
              <a:t>Superior image quality</a:t>
            </a:r>
          </a:p>
          <a:p>
            <a:r>
              <a:rPr lang="en-IN" dirty="0"/>
              <a:t>Bulky</a:t>
            </a:r>
          </a:p>
          <a:p>
            <a:r>
              <a:rPr lang="en-IN" dirty="0"/>
              <a:t>Expensive</a:t>
            </a:r>
          </a:p>
          <a:p>
            <a:r>
              <a:rPr lang="en-IN" dirty="0"/>
              <a:t>Precise optical alignment needed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5D747E-A13A-357A-389E-59A08C55EF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Applications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97FCEA-DF9E-A0F0-6097-119C3B98702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Broadcast cameras</a:t>
            </a:r>
          </a:p>
          <a:p>
            <a:r>
              <a:rPr lang="en-US" dirty="0"/>
              <a:t>Cinematography</a:t>
            </a:r>
          </a:p>
          <a:p>
            <a:r>
              <a:rPr lang="en-US" dirty="0"/>
              <a:t>High-end industrial inspection</a:t>
            </a:r>
          </a:p>
          <a:p>
            <a:r>
              <a:rPr lang="en-US" dirty="0"/>
              <a:t>Scientific imaging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5930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B14C3-C12E-50C2-CB37-F7792825A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Camera Performance Parameters-Resolution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66B1B-6BE9-32BD-4776-F9C8A6DF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Number of pixels in the image (Width × Height).</a:t>
            </a:r>
          </a:p>
          <a:p>
            <a:r>
              <a:rPr lang="en-US" b="1" dirty="0"/>
              <a:t>Example:</a:t>
            </a:r>
          </a:p>
          <a:p>
            <a:pPr lvl="1"/>
            <a:r>
              <a:rPr lang="en-US" dirty="0"/>
              <a:t>640 × 480 (VGA)</a:t>
            </a:r>
          </a:p>
          <a:p>
            <a:pPr lvl="1"/>
            <a:r>
              <a:rPr lang="en-US" dirty="0"/>
              <a:t>1920 × 1080 (Full HD)</a:t>
            </a:r>
          </a:p>
          <a:p>
            <a:pPr lvl="1"/>
            <a:r>
              <a:rPr lang="en-US" dirty="0"/>
              <a:t>4K (3840 × 2160)</a:t>
            </a:r>
          </a:p>
          <a:p>
            <a:r>
              <a:rPr lang="en-US" b="1" dirty="0"/>
              <a:t>Key Points:</a:t>
            </a:r>
          </a:p>
          <a:p>
            <a:pPr lvl="1"/>
            <a:r>
              <a:rPr lang="en-US" dirty="0"/>
              <a:t>Higher resolution → more detail</a:t>
            </a:r>
          </a:p>
          <a:p>
            <a:pPr lvl="1"/>
            <a:r>
              <a:rPr lang="en-US" dirty="0"/>
              <a:t>Larger storage</a:t>
            </a:r>
          </a:p>
          <a:p>
            <a:pPr lvl="1"/>
            <a:r>
              <a:rPr lang="en-US" dirty="0"/>
              <a:t>Higher processing load</a:t>
            </a:r>
          </a:p>
          <a:p>
            <a:pPr lvl="1"/>
            <a:r>
              <a:rPr lang="en-US" dirty="0"/>
              <a:t>More memory usage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36927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99135-42B3-971A-7747-A68C0598B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Sensitivity(ISO)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D5801-6979-41BB-6379-3D8A483E1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Ability of camera sensor to capture light.</a:t>
            </a:r>
          </a:p>
          <a:p>
            <a:r>
              <a:rPr lang="en-US" dirty="0"/>
              <a:t>Measured in:</a:t>
            </a:r>
          </a:p>
          <a:p>
            <a:pPr lvl="1"/>
            <a:r>
              <a:rPr lang="en-US" dirty="0"/>
              <a:t>ISO number</a:t>
            </a:r>
          </a:p>
          <a:p>
            <a:pPr lvl="1"/>
            <a:r>
              <a:rPr lang="en-US" dirty="0"/>
              <a:t>Lux rating</a:t>
            </a:r>
          </a:p>
          <a:p>
            <a:pPr lvl="1"/>
            <a:r>
              <a:rPr lang="en-US" dirty="0"/>
              <a:t>Responsivity (A/W in scientific sensors)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Important: High sensitivity → works in low light But may increase noise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56499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22AA-2F29-02B4-0A8C-DE02D6AE2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Signal to Noise Ratio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2226D-E6E1-EC22-D30C-9CCBA38D6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Ratio of useful signal to unwanted noise.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D6BEC7-3320-FE2B-57E5-A369FC870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608" y="2348880"/>
            <a:ext cx="7056784" cy="388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4174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42912-DA92-51C1-22DA-C713E468B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Dynamic Range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C678A-76D6-18F1-3B4A-658CB98B9D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Ability to capture both dark and bright regions simultaneously.</a:t>
                </a:r>
              </a:p>
              <a:p>
                <a:r>
                  <a:rPr lang="en-US" dirty="0"/>
                  <a:t>Measured in:</a:t>
                </a:r>
              </a:p>
              <a:p>
                <a:pPr lvl="1"/>
                <a:r>
                  <a:rPr lang="en-US" dirty="0"/>
                  <a:t>Stops (photography)</a:t>
                </a:r>
              </a:p>
              <a:p>
                <a:pPr lvl="1"/>
                <a:r>
                  <a:rPr lang="en-US" dirty="0"/>
                  <a:t>dB (scientific systems)</a:t>
                </a:r>
              </a:p>
              <a:p>
                <a:r>
                  <a:rPr lang="en-US" dirty="0"/>
                  <a:t>High dynamic range (HDR) is important in:</a:t>
                </a:r>
              </a:p>
              <a:p>
                <a:pPr lvl="1"/>
                <a:r>
                  <a:rPr lang="en-US" dirty="0"/>
                  <a:t>Microscopy</a:t>
                </a:r>
              </a:p>
              <a:p>
                <a:pPr lvl="1"/>
                <a:r>
                  <a:rPr lang="en-US" dirty="0"/>
                  <a:t>Outdoor imaging</a:t>
                </a:r>
              </a:p>
              <a:p>
                <a:pPr lvl="1"/>
                <a:r>
                  <a:rPr lang="en-US" dirty="0"/>
                  <a:t>Industrial inspection</a:t>
                </a:r>
              </a:p>
              <a:p>
                <a:r>
                  <a:rPr lang="en-IN" dirty="0"/>
                  <a:t>Dynamic Range=    Minimum Detectable Signal/Maximum Detectable Signal​ </a:t>
                </a:r>
              </a:p>
              <a:p>
                <a:r>
                  <a:rPr lang="en-IN" dirty="0"/>
                  <a:t>Often expressed in:</a:t>
                </a:r>
              </a:p>
              <a:p>
                <a:pPr lvl="1"/>
                <a:r>
                  <a:rPr lang="en-IN" b="1" dirty="0"/>
                  <a:t>dB (decibels)</a:t>
                </a:r>
                <a:endParaRPr lang="en-IN" dirty="0"/>
              </a:p>
              <a:p>
                <a:pPr lvl="1"/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𝐷𝑅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20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unc>
                          <m:func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IN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/>
                        </m:fun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𝑚𝑎𝑥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𝑚𝑖𝑛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1"/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C678A-76D6-18F1-3B4A-658CB98B9D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3" t="-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82811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7A10E-13AF-B707-7663-FAA83F669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E97302-D80F-A036-E7A7-9A315AEE35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828800"/>
            <a:ext cx="64008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4408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AFAD2-FA84-CAB6-2763-0EDBEA51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Frame Rate(FPS)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81D32-6907-8EB7-6414-AA3E00C0A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Number of frames captured per second.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30 FPS → normal video</a:t>
            </a:r>
          </a:p>
          <a:p>
            <a:pPr lvl="1"/>
            <a:r>
              <a:rPr lang="en-US" dirty="0"/>
              <a:t>60 FPS → smooth motion</a:t>
            </a:r>
          </a:p>
          <a:p>
            <a:pPr lvl="1"/>
            <a:r>
              <a:rPr lang="en-US" dirty="0"/>
              <a:t>120+ FPS → slow motion</a:t>
            </a:r>
          </a:p>
          <a:p>
            <a:r>
              <a:rPr lang="en-US" dirty="0"/>
              <a:t>In robotics or pick-and-place systems:</a:t>
            </a:r>
          </a:p>
          <a:p>
            <a:pPr lvl="1"/>
            <a:r>
              <a:rPr lang="en-US" dirty="0"/>
              <a:t>High FPS → better real-time control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134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871B5-B0B3-01A8-28BF-342BF24FB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Pixel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497A22-69C3-6770-2A68-57E67F898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Larger pixel:</a:t>
            </a:r>
          </a:p>
          <a:p>
            <a:pPr lvl="1"/>
            <a:r>
              <a:rPr lang="en-US" dirty="0"/>
              <a:t>More light captured</a:t>
            </a:r>
          </a:p>
          <a:p>
            <a:pPr lvl="1"/>
            <a:r>
              <a:rPr lang="en-US" dirty="0"/>
              <a:t>Better low-light performance</a:t>
            </a:r>
          </a:p>
          <a:p>
            <a:pPr lvl="1"/>
            <a:r>
              <a:rPr lang="en-US" dirty="0"/>
              <a:t>Better SNR</a:t>
            </a:r>
          </a:p>
          <a:p>
            <a:r>
              <a:rPr lang="en-US" dirty="0"/>
              <a:t>Smaller pixel:</a:t>
            </a:r>
          </a:p>
          <a:p>
            <a:pPr lvl="1"/>
            <a:r>
              <a:rPr lang="en-US" dirty="0"/>
              <a:t>Higher resolution</a:t>
            </a:r>
          </a:p>
          <a:p>
            <a:pPr lvl="1"/>
            <a:r>
              <a:rPr lang="en-US" dirty="0"/>
              <a:t>But less light per pixel</a:t>
            </a:r>
          </a:p>
          <a:p>
            <a:r>
              <a:rPr lang="en-US" dirty="0"/>
              <a:t>Trade-off between:</a:t>
            </a:r>
          </a:p>
          <a:p>
            <a:pPr lvl="1"/>
            <a:r>
              <a:rPr lang="en-US" dirty="0"/>
              <a:t>Resolution vs Sensitivity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36060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3DEA-84D9-F1CB-B43B-3E936915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Field of View(FOV)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89A9E-CABB-40FA-7878-070D58BC3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Area covered by the camera lens.</a:t>
            </a:r>
          </a:p>
          <a:p>
            <a:r>
              <a:rPr lang="en-US" dirty="0"/>
              <a:t>Wide FOV:</a:t>
            </a:r>
          </a:p>
          <a:p>
            <a:pPr lvl="1"/>
            <a:r>
              <a:rPr lang="en-US" dirty="0"/>
              <a:t>Surveillance</a:t>
            </a:r>
          </a:p>
          <a:p>
            <a:pPr lvl="1"/>
            <a:r>
              <a:rPr lang="en-US" dirty="0"/>
              <a:t>Robotics navigation</a:t>
            </a:r>
          </a:p>
          <a:p>
            <a:r>
              <a:rPr lang="en-US" dirty="0"/>
              <a:t>Narrow FOV:</a:t>
            </a:r>
          </a:p>
          <a:p>
            <a:pPr lvl="1"/>
            <a:r>
              <a:rPr lang="en-US" dirty="0"/>
              <a:t>Microscopy</a:t>
            </a:r>
          </a:p>
          <a:p>
            <a:pPr lvl="1"/>
            <a:r>
              <a:rPr lang="en-US" dirty="0"/>
              <a:t>Precision inspection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9407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F8AA3-A20C-FA1C-4BF3-9F54A92DA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31759-681A-9B71-74D5-444E30674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between image capture and output availability.</a:t>
            </a:r>
          </a:p>
          <a:p>
            <a:r>
              <a:rPr lang="en-US" dirty="0"/>
              <a:t>Critical for:</a:t>
            </a:r>
          </a:p>
          <a:p>
            <a:pPr lvl="1"/>
            <a:r>
              <a:rPr lang="en-US" dirty="0"/>
              <a:t>Robotics</a:t>
            </a:r>
          </a:p>
          <a:p>
            <a:pPr lvl="1"/>
            <a:r>
              <a:rPr lang="en-US" dirty="0"/>
              <a:t>Autonomous systems</a:t>
            </a:r>
          </a:p>
          <a:p>
            <a:pPr lvl="1"/>
            <a:r>
              <a:rPr lang="en-US" dirty="0"/>
              <a:t>Real-time control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89311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24B9E-3C06-5802-A616-CB767E5D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Bit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B31AF-F3F4-FA6D-BD0A-711AD9AE4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Number of intensity levels per pixel.</a:t>
            </a:r>
          </a:p>
          <a:p>
            <a:pPr lvl="1"/>
            <a:r>
              <a:rPr lang="en-IN" dirty="0"/>
              <a:t>8-bit → 256 levels</a:t>
            </a:r>
          </a:p>
          <a:p>
            <a:pPr lvl="1"/>
            <a:r>
              <a:rPr lang="en-IN" dirty="0"/>
              <a:t>10-bit → 1024 levels</a:t>
            </a:r>
          </a:p>
          <a:p>
            <a:pPr lvl="1"/>
            <a:r>
              <a:rPr lang="en-IN" dirty="0"/>
              <a:t>12-bit → 4096 levels</a:t>
            </a:r>
          </a:p>
          <a:p>
            <a:pPr lvl="1"/>
            <a:r>
              <a:rPr lang="en-IN" dirty="0"/>
              <a:t>16-bit → 65536 levels</a:t>
            </a:r>
          </a:p>
          <a:p>
            <a:r>
              <a:rPr lang="en-IN" dirty="0"/>
              <a:t>Higher bit depth:</a:t>
            </a:r>
          </a:p>
          <a:p>
            <a:pPr lvl="1"/>
            <a:r>
              <a:rPr lang="en-IN" dirty="0"/>
              <a:t>Better quantitative analysis</a:t>
            </a:r>
          </a:p>
          <a:p>
            <a:pPr lvl="1"/>
            <a:r>
              <a:rPr lang="en-IN" dirty="0"/>
              <a:t>Essential for medical imaging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61348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EDBB4-A654-DD66-A447-6D66570CA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Dark Current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02BAB-0815-3C00-51DD-7C40BB57E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Important in scientific cameras.</a:t>
            </a:r>
          </a:p>
          <a:p>
            <a:r>
              <a:rPr lang="en-US" dirty="0"/>
              <a:t>Even in complete darkness, some electrons are generated.</a:t>
            </a:r>
          </a:p>
          <a:p>
            <a:r>
              <a:rPr lang="en-US" dirty="0"/>
              <a:t>More dark current:</a:t>
            </a:r>
          </a:p>
          <a:p>
            <a:pPr lvl="1"/>
            <a:r>
              <a:rPr lang="en-US" dirty="0"/>
              <a:t>More noise</a:t>
            </a:r>
          </a:p>
          <a:p>
            <a:pPr lvl="1"/>
            <a:r>
              <a:rPr lang="en-US" dirty="0"/>
              <a:t>Reduced accuracy</a:t>
            </a:r>
          </a:p>
          <a:p>
            <a:r>
              <a:rPr lang="en-US" dirty="0"/>
              <a:t>Critical in:</a:t>
            </a:r>
          </a:p>
          <a:p>
            <a:pPr lvl="1"/>
            <a:r>
              <a:rPr lang="en-US" dirty="0"/>
              <a:t>Fluorescence imaging</a:t>
            </a:r>
          </a:p>
          <a:p>
            <a:pPr lvl="1"/>
            <a:r>
              <a:rPr lang="en-US" dirty="0"/>
              <a:t>Long exposure microscopy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10667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3613-15E1-A798-45A2-5DD0C37F0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Quantum Efficiency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94D29-C7AB-E37D-F55B-95C7983123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Percentage of photons converted into electrons.</a:t>
                </a:r>
              </a:p>
              <a:p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𝑄𝐸</m:t>
                    </m:r>
                    <m:r>
                      <a:rPr lang="en-IN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𝐸𝑙𝑒𝑐𝑡𝑟𝑜𝑛𝑠𝑔𝑒𝑛𝑒𝑟𝑎𝑡𝑒𝑑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𝐼𝑛𝑐𝑖𝑑𝑒𝑛𝑡𝑝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𝑜𝑡𝑜𝑛𝑠</m:t>
                        </m:r>
                      </m:den>
                    </m:f>
                  </m:oMath>
                </a14:m>
                <a:endParaRPr lang="ar-AE" dirty="0"/>
              </a:p>
              <a:p>
                <a:r>
                  <a:rPr lang="en-IN" dirty="0"/>
                  <a:t>Higher QE → Better sensitivity.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94D29-C7AB-E37D-F55B-95C7983123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61538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06FF8-D730-C721-5634-019600040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Noises In Camera –Shot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9C2DB7-E8E9-C908-C577-DDFF1A10C5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b="1" dirty="0"/>
                  <a:t>Cause:</a:t>
                </a:r>
                <a:r>
                  <a:rPr lang="en-IN" dirty="0"/>
                  <a:t> Random arrival of photons</a:t>
                </a:r>
              </a:p>
              <a:p>
                <a:r>
                  <a:rPr lang="en-IN" b="1" dirty="0"/>
                  <a:t>Nature:</a:t>
                </a:r>
                <a:r>
                  <a:rPr lang="en-IN" dirty="0"/>
                  <a:t> Statistical (Poisson distributed)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𝑁𝑜𝑖𝑠𝑒</m:t>
                    </m:r>
                    <m:r>
                      <a:rPr lang="en-IN">
                        <a:latin typeface="Cambria Math" panose="02040503050406030204" pitchFamily="18" charset="0"/>
                      </a:rPr>
                      <m:t>∝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𝑆𝑖𝑔𝑛𝑎𝑙</m:t>
                        </m:r>
                      </m:e>
                    </m:rad>
                  </m:oMath>
                </a14:m>
                <a:endParaRPr lang="ar-AE" dirty="0"/>
              </a:p>
              <a:p>
                <a:r>
                  <a:rPr lang="en-IN" dirty="0"/>
                  <a:t>Increases with signal</a:t>
                </a:r>
              </a:p>
              <a:p>
                <a:r>
                  <a:rPr lang="en-IN" dirty="0"/>
                  <a:t>Cannot be eliminated (fundamental physical limit)</a:t>
                </a:r>
              </a:p>
              <a:p>
                <a:r>
                  <a:rPr lang="en-IN" dirty="0"/>
                  <a:t>Very important in:</a:t>
                </a:r>
              </a:p>
              <a:p>
                <a:pPr lvl="1"/>
                <a:r>
                  <a:rPr lang="en-IN" dirty="0"/>
                  <a:t>Fluorescence imaging</a:t>
                </a:r>
              </a:p>
              <a:p>
                <a:pPr lvl="1"/>
                <a:r>
                  <a:rPr lang="en-IN" dirty="0"/>
                  <a:t>Microscopy</a:t>
                </a:r>
              </a:p>
              <a:p>
                <a:pPr lvl="1"/>
                <a:r>
                  <a:rPr lang="en-IN" dirty="0"/>
                  <a:t>Low-light imaging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9C2DB7-E8E9-C908-C577-DDFF1A10C5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B6DE0DAF-C379-63E2-BD90-F26364BE9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60" y="2420888"/>
            <a:ext cx="4295800" cy="2863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3196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76B13-1171-6330-0E6C-CE45D806E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Thermal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A7F98-40F3-CCEE-23DE-B85AD1339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Generated due to thermal electrons even when no light is present.</a:t>
            </a:r>
          </a:p>
          <a:p>
            <a:r>
              <a:rPr lang="en-US" dirty="0"/>
              <a:t>✔ Increases with temperature</a:t>
            </a:r>
            <a:br>
              <a:rPr lang="en-US" dirty="0"/>
            </a:br>
            <a:r>
              <a:rPr lang="en-US" dirty="0"/>
              <a:t>✔ Reduced using cooling (scientific CCD/CMOS)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00744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BB6FA-D653-05E7-2690-F84BFAC17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Read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4756C-2163-18AC-1CE9-935B80F74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Noise introduced during:</a:t>
            </a:r>
          </a:p>
          <a:p>
            <a:pPr lvl="1"/>
            <a:r>
              <a:rPr lang="en-US" dirty="0"/>
              <a:t>Charge-to-voltage conversion</a:t>
            </a:r>
          </a:p>
          <a:p>
            <a:pPr lvl="1"/>
            <a:r>
              <a:rPr lang="en-US" dirty="0"/>
              <a:t>Analog-to-digital conversion</a:t>
            </a:r>
          </a:p>
          <a:p>
            <a:pPr lvl="1"/>
            <a:r>
              <a:rPr lang="en-US" dirty="0"/>
              <a:t>Independent of light intensity.</a:t>
            </a:r>
          </a:p>
          <a:p>
            <a:r>
              <a:rPr lang="en-US" dirty="0"/>
              <a:t>Dominant in:</a:t>
            </a:r>
          </a:p>
          <a:p>
            <a:pPr lvl="1"/>
            <a:r>
              <a:rPr lang="en-US" dirty="0"/>
              <a:t>Low signal conditions</a:t>
            </a:r>
          </a:p>
          <a:p>
            <a:pPr lvl="1"/>
            <a:r>
              <a:rPr lang="en-US" dirty="0"/>
              <a:t>Fast readout systems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983838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6BEFA-5B03-092B-6F36-5775D59EC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Fixed Pattern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5606A-5CC3-56B7-5197-18F8C3996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Caused by:</a:t>
            </a:r>
          </a:p>
          <a:p>
            <a:pPr lvl="1"/>
            <a:r>
              <a:rPr lang="en-US" dirty="0"/>
              <a:t>Pixel-to-pixel variation</a:t>
            </a:r>
          </a:p>
          <a:p>
            <a:pPr lvl="1"/>
            <a:r>
              <a:rPr lang="en-US" dirty="0"/>
              <a:t>Manufacturing mismatch</a:t>
            </a:r>
          </a:p>
          <a:p>
            <a:r>
              <a:rPr lang="en-US" dirty="0"/>
              <a:t>Appears as:</a:t>
            </a:r>
          </a:p>
          <a:p>
            <a:pPr lvl="1"/>
            <a:r>
              <a:rPr lang="en-US" dirty="0"/>
              <a:t>Vertical stripes</a:t>
            </a:r>
          </a:p>
          <a:p>
            <a:pPr lvl="1"/>
            <a:r>
              <a:rPr lang="en-US" dirty="0"/>
              <a:t>Grid patterns</a:t>
            </a:r>
          </a:p>
          <a:p>
            <a:r>
              <a:rPr lang="en-US" dirty="0"/>
              <a:t>Reduced using:</a:t>
            </a:r>
          </a:p>
          <a:p>
            <a:pPr lvl="1"/>
            <a:r>
              <a:rPr lang="en-US" dirty="0"/>
              <a:t>Calibration</a:t>
            </a:r>
          </a:p>
          <a:p>
            <a:pPr lvl="1"/>
            <a:r>
              <a:rPr lang="en-US" dirty="0"/>
              <a:t>Dark frame subtraction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F5A17-B69D-36F0-6FC2-4868A3253F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968" y="2611673"/>
            <a:ext cx="5402908" cy="270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1758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5C1E7-D13B-9CC3-DABF-6CC3CA448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Quantisation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74E3F-C670-90E3-833D-F5CED94EC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Occurs due to limited bit depth during ADC.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8-bit → only 256 intensity levels</a:t>
            </a:r>
          </a:p>
          <a:p>
            <a:pPr lvl="1"/>
            <a:r>
              <a:rPr lang="en-US" dirty="0"/>
              <a:t>12-bit → 4096 levels</a:t>
            </a:r>
          </a:p>
          <a:p>
            <a:r>
              <a:rPr lang="en-US" dirty="0"/>
              <a:t>Lower bit depth → higher quantization error.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874540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2CE4B-15F8-173E-FB8B-9A07FB21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Camera-Computer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DBD5B-E1D1-AE10-6205-F30812ACA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Camera-computer interfaces define how </a:t>
            </a:r>
            <a:r>
              <a:rPr lang="en-IN" b="1" dirty="0"/>
              <a:t>digital video data</a:t>
            </a:r>
            <a:r>
              <a:rPr lang="en-IN" dirty="0"/>
              <a:t> is transferred from a camera sensor to a processing system.</a:t>
            </a:r>
          </a:p>
          <a:p>
            <a:endParaRPr lang="en-IN" dirty="0"/>
          </a:p>
          <a:p>
            <a:r>
              <a:rPr lang="en-IN" dirty="0"/>
              <a:t>Digital Video Signal</a:t>
            </a:r>
          </a:p>
          <a:p>
            <a:pPr lvl="1"/>
            <a:r>
              <a:rPr lang="en-US" dirty="0"/>
              <a:t>After image capture, the sensor produces digital signals containing:</a:t>
            </a:r>
          </a:p>
          <a:p>
            <a:pPr marL="0" indent="0">
              <a:buNone/>
            </a:pPr>
            <a:r>
              <a:rPr lang="en-US" dirty="0"/>
              <a:t>	• Pixel intensity values</a:t>
            </a:r>
            <a:br>
              <a:rPr lang="en-US" dirty="0"/>
            </a:br>
            <a:r>
              <a:rPr lang="en-US" dirty="0"/>
              <a:t>	• Synchronization signals</a:t>
            </a:r>
            <a:br>
              <a:rPr lang="en-US" dirty="0"/>
            </a:br>
            <a:r>
              <a:rPr lang="en-US" dirty="0"/>
              <a:t>	• Clock signals</a:t>
            </a:r>
            <a:br>
              <a:rPr lang="en-US" dirty="0"/>
            </a:br>
            <a:r>
              <a:rPr lang="en-US" dirty="0"/>
              <a:t>	• Control signal</a:t>
            </a:r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93055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72C9-DDC5-15CA-2AD2-4A559F2E2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Components of Digital Video Signal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DB40-D5BF-9F11-516A-717963B2C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Pixel Data (Parallel/Serial)</a:t>
            </a:r>
            <a:endParaRPr lang="en-IN" dirty="0"/>
          </a:p>
          <a:p>
            <a:r>
              <a:rPr lang="en-IN" b="1" dirty="0"/>
              <a:t>Clock Signal</a:t>
            </a:r>
            <a:endParaRPr lang="en-IN" dirty="0"/>
          </a:p>
          <a:p>
            <a:r>
              <a:rPr lang="en-IN" b="1" dirty="0"/>
              <a:t>Horizontal Sync (HSYNC)</a:t>
            </a:r>
            <a:endParaRPr lang="en-IN" dirty="0"/>
          </a:p>
          <a:p>
            <a:r>
              <a:rPr lang="en-IN" b="1" dirty="0"/>
              <a:t>Vertical Sync (VSYNC)</a:t>
            </a:r>
            <a:endParaRPr lang="en-IN" dirty="0"/>
          </a:p>
          <a:p>
            <a:r>
              <a:rPr lang="en-IN" b="1" dirty="0"/>
              <a:t>Frame Valid / Line Valid signals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61243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59239-B2BA-91CD-4459-08B8AB529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Specialised Interfaces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8D63E0-49CC-0F9C-E154-86E14695AB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For example:</a:t>
                </a:r>
              </a:p>
              <a:p>
                <a:pPr marL="0" indent="0">
                  <a:buNone/>
                </a:pPr>
                <a:r>
                  <a:rPr lang="en-IN" dirty="0"/>
                  <a:t>		8-bit grayscale → 8 data lines</a:t>
                </a:r>
              </a:p>
              <a:p>
                <a:pPr marL="0" indent="0">
                  <a:buNone/>
                </a:pPr>
                <a:r>
                  <a:rPr lang="en-IN" dirty="0"/>
                  <a:t>		24-bit RGB → 24 data lines</a:t>
                </a:r>
              </a:p>
              <a:p>
                <a:r>
                  <a:rPr lang="en-IN" dirty="0"/>
                  <a:t>High-resolution cameras produce extremely large data rates:</a:t>
                </a:r>
              </a:p>
              <a:p>
                <a:pPr marL="0" indent="0">
                  <a:buNone/>
                </a:pPr>
                <a:endParaRPr lang="en-IN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b="0"/>
                        <m:t>Data</m:t>
                      </m:r>
                      <m:r>
                        <m:rPr>
                          <m:nor/>
                        </m:rPr>
                        <a:rPr lang="en-IN" b="0" i="1"/>
                        <m:t> </m:t>
                      </m:r>
                      <m:r>
                        <m:rPr>
                          <m:nor/>
                        </m:rPr>
                        <a:rPr lang="en-IN" b="0" i="1"/>
                        <m:t>Rate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𝑅𝑒𝑠𝑜𝑙𝑢𝑡𝑖𝑜𝑛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𝐹𝑟𝑎𝑚𝑒𝑅𝑎𝑡𝑒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𝐵𝑖𝑡𝑠𝑝𝑒𝑟𝑃𝑖𝑥𝑒𝑙</m:t>
                      </m:r>
                    </m:oMath>
                  </m:oMathPara>
                </a14:m>
                <a:endParaRPr lang="en-IN" b="0" dirty="0"/>
              </a:p>
              <a:p>
                <a:pPr marL="0" indent="0">
                  <a:buNone/>
                </a:pPr>
                <a:r>
                  <a:rPr lang="en-IN" dirty="0"/>
                  <a:t>		Example:</a:t>
                </a:r>
                <a:br>
                  <a:rPr lang="en-IN" dirty="0"/>
                </a:br>
                <a:r>
                  <a:rPr lang="en-IN" dirty="0"/>
                  <a:t>		1920 × 1080 × 60 fps × 8 bits ≈ 995 Mbps</a:t>
                </a:r>
              </a:p>
              <a:p>
                <a:r>
                  <a:rPr lang="en-IN" dirty="0"/>
                  <a:t>That’s why specialized interfaces are needed.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8D63E0-49CC-0F9C-E154-86E14695AB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0206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A778A-C685-4ED4-B7EE-090B6543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Camera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A04F5-9E00-C4FF-15F9-FC51E14FB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Developed by </a:t>
            </a:r>
            <a:r>
              <a:rPr lang="en-US" b="1" dirty="0"/>
              <a:t>Automated Imaging Association</a:t>
            </a:r>
            <a:r>
              <a:rPr lang="en-US" dirty="0"/>
              <a:t> for industrial vision systems.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3099BA-6F7D-A020-D5EA-87E07B7A57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688" y="2276872"/>
            <a:ext cx="4445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116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00B71-1CDC-1657-385E-DD2F6C9EF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57ED-44F3-2D56-EBFE-5C5A66B62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Uses:</a:t>
            </a:r>
          </a:p>
          <a:p>
            <a:r>
              <a:rPr lang="en-US" b="1" dirty="0"/>
              <a:t>LVDS (Low Voltage Differential Signaling)</a:t>
            </a:r>
            <a:endParaRPr lang="en-US" dirty="0"/>
          </a:p>
          <a:p>
            <a:r>
              <a:rPr lang="en-US" dirty="0"/>
              <a:t>Parallel high-speed transmission</a:t>
            </a:r>
          </a:p>
          <a:p>
            <a:r>
              <a:rPr lang="en-US" dirty="0"/>
              <a:t>Requires frame grabber card in PC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570FF49-D585-D4BA-0201-0D5A5892AC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2206086"/>
              </p:ext>
            </p:extLst>
          </p:nvPr>
        </p:nvGraphicFramePr>
        <p:xfrm>
          <a:off x="1919536" y="3861048"/>
          <a:ext cx="9144000" cy="146304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359992743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18424248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Max Data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221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255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8750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510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80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Full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680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70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17923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1B7E9D-C536-901A-F552-301E4A65F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1798A9-0643-FB9D-1914-41A7EA851A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Advantages:</a:t>
            </a:r>
          </a:p>
          <a:p>
            <a:r>
              <a:rPr lang="en-IN" dirty="0"/>
              <a:t>✔ Very reliable</a:t>
            </a:r>
            <a:br>
              <a:rPr lang="en-IN" dirty="0"/>
            </a:br>
            <a:r>
              <a:rPr lang="en-IN" dirty="0"/>
              <a:t>✔ Low latency</a:t>
            </a:r>
            <a:br>
              <a:rPr lang="en-IN" dirty="0"/>
            </a:br>
            <a:r>
              <a:rPr lang="en-IN" dirty="0"/>
              <a:t>✔ High bandwidth</a:t>
            </a:r>
            <a:br>
              <a:rPr lang="en-IN" dirty="0"/>
            </a:br>
            <a:r>
              <a:rPr lang="en-IN" dirty="0"/>
              <a:t>✔ Industrial grade</a:t>
            </a:r>
          </a:p>
          <a:p>
            <a:pPr marL="0" indent="0">
              <a:buNone/>
            </a:pPr>
            <a:r>
              <a:rPr lang="en-IN" b="1" dirty="0"/>
              <a:t>Disadvantages:</a:t>
            </a:r>
          </a:p>
          <a:p>
            <a:r>
              <a:rPr lang="en-IN" dirty="0"/>
              <a:t>✖ Expensive</a:t>
            </a:r>
            <a:br>
              <a:rPr lang="en-IN" dirty="0"/>
            </a:br>
            <a:r>
              <a:rPr lang="en-IN" dirty="0"/>
              <a:t>✖ Requires frame grabber</a:t>
            </a:r>
            <a:br>
              <a:rPr lang="en-IN" dirty="0"/>
            </a:br>
            <a:r>
              <a:rPr lang="en-IN" dirty="0"/>
              <a:t>✖ Short cable length</a:t>
            </a:r>
          </a:p>
          <a:p>
            <a:endParaRPr lang="en-IN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325E8A4-9B95-456D-53F0-86C9B30E40A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Used in:</a:t>
            </a:r>
          </a:p>
          <a:p>
            <a:r>
              <a:rPr lang="en-IN" dirty="0"/>
              <a:t>Industrial inspection</a:t>
            </a:r>
          </a:p>
          <a:p>
            <a:r>
              <a:rPr lang="en-IN" dirty="0"/>
              <a:t>Robotics</a:t>
            </a:r>
          </a:p>
          <a:p>
            <a:r>
              <a:rPr lang="en-IN" dirty="0"/>
              <a:t>High-speed imaging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90473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252FF-622C-3711-6F7C-8B6CCA04C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IEEE 1394 (FireWire)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6D1FB-AD9E-B680-9A5B-B2C9F0B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Developed by Apple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B55450-1B01-9E5E-1359-455A30EB4F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920" y="1848308"/>
            <a:ext cx="6509142" cy="4341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8875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22A88-A26C-B1A4-2445-4C3BD2770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A4785A-BA9F-2131-CE37-FDF2154E3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Features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2D631-B529-52E5-2337-F4F600BD750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✔ Plug and play</a:t>
            </a:r>
            <a:br>
              <a:rPr lang="en-IN" dirty="0"/>
            </a:br>
            <a:r>
              <a:rPr lang="en-IN" dirty="0"/>
              <a:t>✔ Isochronous transmission (real-time video)</a:t>
            </a:r>
            <a:br>
              <a:rPr lang="en-IN" dirty="0"/>
            </a:br>
            <a:r>
              <a:rPr lang="en-IN" dirty="0"/>
              <a:t>✔ Direct memory access</a:t>
            </a:r>
          </a:p>
          <a:p>
            <a:pPr marL="0" indent="0">
              <a:buNone/>
            </a:pPr>
            <a:r>
              <a:rPr lang="en-IN" b="1" dirty="0"/>
              <a:t>Limitations:</a:t>
            </a:r>
          </a:p>
          <a:p>
            <a:r>
              <a:rPr lang="en-IN" dirty="0"/>
              <a:t>✖ Becoming obsolete</a:t>
            </a:r>
            <a:br>
              <a:rPr lang="en-IN" dirty="0"/>
            </a:br>
            <a:r>
              <a:rPr lang="en-IN" dirty="0"/>
              <a:t>✖ Limited bandwidth compared to modern standards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B1DBB-24DC-E0CA-789D-B195C212DE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Used widely in: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769B9D-793D-3252-12DA-3339FD67E79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Early machine vision systems</a:t>
            </a:r>
          </a:p>
          <a:p>
            <a:r>
              <a:rPr lang="en-IN" dirty="0"/>
              <a:t>Scientific cameras</a:t>
            </a:r>
          </a:p>
          <a:p>
            <a:r>
              <a:rPr lang="en-IN" dirty="0"/>
              <a:t>Video camcorders</a:t>
            </a:r>
          </a:p>
          <a:p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5CFBD6C-DE95-CB04-0361-7FD277553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933298"/>
              </p:ext>
            </p:extLst>
          </p:nvPr>
        </p:nvGraphicFramePr>
        <p:xfrm>
          <a:off x="6528048" y="4298930"/>
          <a:ext cx="4728828" cy="1097280"/>
        </p:xfrm>
        <a:graphic>
          <a:graphicData uri="http://schemas.openxmlformats.org/drawingml/2006/table">
            <a:tbl>
              <a:tblPr/>
              <a:tblGrid>
                <a:gridCol w="2784612">
                  <a:extLst>
                    <a:ext uri="{9D8B030D-6E8A-4147-A177-3AD203B41FA5}">
                      <a16:colId xmlns:a16="http://schemas.microsoft.com/office/drawing/2014/main" val="234854180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6633563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Version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05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1394a (FireWire 400)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400 Mbps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44273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1394b (FireWire 800)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800 Mbps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343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4306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771E3-1341-B8C3-0C1E-D9A085631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5480" y="-32556"/>
            <a:ext cx="9144000" cy="1143000"/>
          </a:xfrm>
        </p:spPr>
        <p:txBody>
          <a:bodyPr/>
          <a:lstStyle/>
          <a:p>
            <a:r>
              <a:rPr lang="en-IN" dirty="0"/>
              <a:t>USB 2.0(Universal Serial Bus)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83B391-CD17-11C1-7603-800D7DA6D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7721" y="4149080"/>
            <a:ext cx="4343400" cy="2481809"/>
          </a:xfrm>
        </p:spPr>
        <p:txBody>
          <a:bodyPr>
            <a:normAutofit/>
          </a:bodyPr>
          <a:lstStyle/>
          <a:p>
            <a:r>
              <a:rPr lang="en-IN" b="1" dirty="0"/>
              <a:t>Speed:</a:t>
            </a:r>
            <a:r>
              <a:rPr lang="en-IN" dirty="0"/>
              <a:t>480 Mbps (theoretical max)</a:t>
            </a:r>
          </a:p>
          <a:p>
            <a:r>
              <a:rPr lang="en-IN" b="1" dirty="0"/>
              <a:t>Features:</a:t>
            </a:r>
          </a:p>
          <a:p>
            <a:r>
              <a:rPr lang="en-IN" dirty="0"/>
              <a:t>✔ Very cheap</a:t>
            </a:r>
            <a:br>
              <a:rPr lang="en-IN" dirty="0"/>
            </a:br>
            <a:r>
              <a:rPr lang="en-IN" dirty="0"/>
              <a:t>✔ No frame grabber required</a:t>
            </a:r>
            <a:br>
              <a:rPr lang="en-IN" dirty="0"/>
            </a:br>
            <a:r>
              <a:rPr lang="en-IN" dirty="0"/>
              <a:t>✔ Plug-and-play</a:t>
            </a:r>
            <a:br>
              <a:rPr lang="en-IN" dirty="0"/>
            </a:br>
            <a:r>
              <a:rPr lang="en-IN" dirty="0"/>
              <a:t>✔ Widely supported</a:t>
            </a:r>
          </a:p>
          <a:p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F1BD0E-2DC4-C711-028A-F0E87EA356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5144" y="1196752"/>
            <a:ext cx="4343400" cy="685800"/>
          </a:xfrm>
        </p:spPr>
        <p:txBody>
          <a:bodyPr/>
          <a:lstStyle/>
          <a:p>
            <a:r>
              <a:rPr lang="en-IN" b="1" dirty="0"/>
              <a:t>Limitations: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7D8750-2E15-127D-A73D-81B7699850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0824" y="1935686"/>
            <a:ext cx="4343400" cy="3581401"/>
          </a:xfrm>
        </p:spPr>
        <p:txBody>
          <a:bodyPr>
            <a:normAutofit/>
          </a:bodyPr>
          <a:lstStyle/>
          <a:p>
            <a:r>
              <a:rPr lang="en-IN" dirty="0"/>
              <a:t>✖ CPU-dependent</a:t>
            </a:r>
            <a:br>
              <a:rPr lang="en-IN" dirty="0"/>
            </a:br>
            <a:r>
              <a:rPr lang="en-IN" dirty="0"/>
              <a:t>✖ Not ideal for very high-speed cameras</a:t>
            </a:r>
            <a:br>
              <a:rPr lang="en-IN" dirty="0"/>
            </a:br>
            <a:r>
              <a:rPr lang="en-IN" dirty="0"/>
              <a:t>✖ Limited cable length (~5m)</a:t>
            </a:r>
          </a:p>
          <a:p>
            <a:r>
              <a:rPr lang="en-IN" dirty="0"/>
              <a:t>Used in:</a:t>
            </a:r>
          </a:p>
          <a:p>
            <a:r>
              <a:rPr lang="en-IN" dirty="0"/>
              <a:t>Webcams</a:t>
            </a:r>
          </a:p>
          <a:p>
            <a:r>
              <a:rPr lang="en-IN" dirty="0"/>
              <a:t>Low-cost vision systems</a:t>
            </a:r>
          </a:p>
          <a:p>
            <a:r>
              <a:rPr lang="en-IN" dirty="0"/>
              <a:t>Embedded imaging</a:t>
            </a:r>
          </a:p>
          <a:p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02B826-A569-41E0-AAA6-DB8FE01409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6666"/>
          <a:stretch>
            <a:fillRect/>
          </a:stretch>
        </p:blipFill>
        <p:spPr>
          <a:xfrm>
            <a:off x="1631504" y="1131585"/>
            <a:ext cx="3323446" cy="288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08282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ABB60-7C3F-3053-C6B9-DF1B6EBD7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E8CE84-9B26-85BE-E949-63E4254FDA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9691511"/>
              </p:ext>
            </p:extLst>
          </p:nvPr>
        </p:nvGraphicFramePr>
        <p:xfrm>
          <a:off x="1524000" y="2276872"/>
          <a:ext cx="9144000" cy="3312366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904298546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292647886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241220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1373907310"/>
                    </a:ext>
                  </a:extLst>
                </a:gridCol>
              </a:tblGrid>
              <a:tr h="552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Camera 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IEEE 1394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USB 2.0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3538504"/>
                  </a:ext>
                </a:extLst>
              </a:tr>
              <a:tr h="552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Industrial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Serial 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Universal 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1889672"/>
                  </a:ext>
                </a:extLst>
              </a:tr>
              <a:tr h="552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Max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680 MB/s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800 Mbps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480 Mbps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493295"/>
                  </a:ext>
                </a:extLst>
              </a:tr>
              <a:tr h="552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Frame Grabber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Required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Not required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Not required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7537077"/>
                  </a:ext>
                </a:extLst>
              </a:tr>
              <a:tr h="552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9447608"/>
                  </a:ext>
                </a:extLst>
              </a:tr>
              <a:tr h="552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Industrial 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Scientific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Consumer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3910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9096945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3018</TotalTime>
  <Words>2640</Words>
  <Application>Microsoft Office PowerPoint</Application>
  <PresentationFormat>Widescreen</PresentationFormat>
  <Paragraphs>619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Cambria Math</vt:lpstr>
      <vt:lpstr>Candara</vt:lpstr>
      <vt:lpstr>Consolas</vt:lpstr>
      <vt:lpstr>Tech Computer 16x9</vt:lpstr>
      <vt:lpstr>Computer Vision – Module 2</vt:lpstr>
      <vt:lpstr>Image Enhancement - Overview</vt:lpstr>
      <vt:lpstr>Contrast Enhancement </vt:lpstr>
      <vt:lpstr>PowerPoint Presentation</vt:lpstr>
      <vt:lpstr>Contrast Normalisation</vt:lpstr>
      <vt:lpstr>PowerPoint Presentation</vt:lpstr>
      <vt:lpstr>Image Smoothing</vt:lpstr>
      <vt:lpstr>Mean Filter</vt:lpstr>
      <vt:lpstr>Gaussian Filter</vt:lpstr>
      <vt:lpstr>Median Filter</vt:lpstr>
      <vt:lpstr>PowerPoint Presentation</vt:lpstr>
      <vt:lpstr>Rank Filters</vt:lpstr>
      <vt:lpstr>Erosion and Dilation</vt:lpstr>
      <vt:lpstr>PowerPoint Presentation</vt:lpstr>
      <vt:lpstr>PowerPoint Presentation</vt:lpstr>
      <vt:lpstr>PowerPoint Presentation</vt:lpstr>
      <vt:lpstr>2D Fourier Transform (Image Frequency Analysis) </vt:lpstr>
      <vt:lpstr>PowerPoint Presentation</vt:lpstr>
      <vt:lpstr>Discrete Fourier Transform(DFT)</vt:lpstr>
      <vt:lpstr>2D DFT(for images)</vt:lpstr>
      <vt:lpstr>Geometric Transformations</vt:lpstr>
      <vt:lpstr>PowerPoint Presentation</vt:lpstr>
      <vt:lpstr>PowerPoint Presentation</vt:lpstr>
      <vt:lpstr>Classification of Geometric Transformation</vt:lpstr>
      <vt:lpstr>Rigid Transformation </vt:lpstr>
      <vt:lpstr>Similarity transformation</vt:lpstr>
      <vt:lpstr>Affine transformation</vt:lpstr>
      <vt:lpstr>Projective Transformation</vt:lpstr>
      <vt:lpstr>Relationship</vt:lpstr>
      <vt:lpstr>Coma</vt:lpstr>
      <vt:lpstr>Astigmatism</vt:lpstr>
      <vt:lpstr>Field Curvature (Petzval Curvature)</vt:lpstr>
      <vt:lpstr>Distortion</vt:lpstr>
      <vt:lpstr>Chromatic Aberrations </vt:lpstr>
      <vt:lpstr>CCD Camera (Charge Coupled Device)</vt:lpstr>
      <vt:lpstr>CCD Working </vt:lpstr>
      <vt:lpstr>CCD</vt:lpstr>
      <vt:lpstr>CMOS Cameras (Complementary Metal-Oxide Semiconductor)</vt:lpstr>
      <vt:lpstr>CMOS</vt:lpstr>
      <vt:lpstr>CCD vs CMOS</vt:lpstr>
      <vt:lpstr>Colour Cameras</vt:lpstr>
      <vt:lpstr>Single Chip Camera</vt:lpstr>
      <vt:lpstr>Single Chip Colour Camera</vt:lpstr>
      <vt:lpstr>Three-Chip (3-CCD / 3-CMOS) Colour Cameras</vt:lpstr>
      <vt:lpstr>CMOS</vt:lpstr>
      <vt:lpstr>Camera Performance Parameters-Resolution </vt:lpstr>
      <vt:lpstr>Sensitivity(ISO)</vt:lpstr>
      <vt:lpstr>Signal to Noise Ratio</vt:lpstr>
      <vt:lpstr>Dynamic Range</vt:lpstr>
      <vt:lpstr>Example</vt:lpstr>
      <vt:lpstr>Frame Rate(FPS)</vt:lpstr>
      <vt:lpstr>Pixel Size</vt:lpstr>
      <vt:lpstr>Field of View(FOV)</vt:lpstr>
      <vt:lpstr>Latency</vt:lpstr>
      <vt:lpstr>Bit depth</vt:lpstr>
      <vt:lpstr>Dark Current</vt:lpstr>
      <vt:lpstr>Quantum Efficiency </vt:lpstr>
      <vt:lpstr>Noises In Camera –Shot Noise</vt:lpstr>
      <vt:lpstr>Thermal Noise</vt:lpstr>
      <vt:lpstr>Read Noise</vt:lpstr>
      <vt:lpstr>Fixed Pattern Noise</vt:lpstr>
      <vt:lpstr>Quantisation Noise</vt:lpstr>
      <vt:lpstr>Camera-Computer Interface</vt:lpstr>
      <vt:lpstr>Components of Digital Video Signal </vt:lpstr>
      <vt:lpstr>Specialised Interfaces</vt:lpstr>
      <vt:lpstr>Camera Link</vt:lpstr>
      <vt:lpstr>PowerPoint Presentation</vt:lpstr>
      <vt:lpstr>PowerPoint Presentation</vt:lpstr>
      <vt:lpstr>IEEE 1394 (FireWire)</vt:lpstr>
      <vt:lpstr>PowerPoint Presentation</vt:lpstr>
      <vt:lpstr>USB 2.0(Universal Serial Bus)</vt:lpstr>
      <vt:lpstr>Comparison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41</cp:revision>
  <dcterms:created xsi:type="dcterms:W3CDTF">2026-01-28T09:27:21Z</dcterms:created>
  <dcterms:modified xsi:type="dcterms:W3CDTF">2026-03-11T04:22:54Z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